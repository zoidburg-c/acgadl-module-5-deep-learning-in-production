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877FDDE-4C5D-2E43-A8EF-B8DC82830E2B}">
          <p14:sldIdLst>
            <p14:sldId id="256"/>
            <p14:sldId id="257"/>
            <p14:sldId id="258"/>
          </p14:sldIdLst>
        </p14:section>
        <p14:section name="Contents" id="{774AFEC7-5172-7F48-9F5A-20F3747AEC82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ivider" id="{8619DD04-1180-4044-8A5F-0135ADF94FE5}">
          <p14:sldIdLst>
            <p14:sldId id="265"/>
          </p14:sldIdLst>
        </p14:section>
        <p14:section name="End Slide" id="{F8FB931A-37E7-C047-9EDB-F888AAF78027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2"/>
    <p:restoredTop sz="96301"/>
  </p:normalViewPr>
  <p:slideViewPr>
    <p:cSldViewPr snapToGrid="0">
      <p:cViewPr varScale="1">
        <p:scale>
          <a:sx n="122" d="100"/>
          <a:sy n="122" d="100"/>
        </p:scale>
        <p:origin x="6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uilding with a city in the background&#10;&#10;AI-generated content may be incorrect.">
            <a:extLst>
              <a:ext uri="{FF2B5EF4-FFF2-40B4-BE49-F238E27FC236}">
                <a16:creationId xmlns:a16="http://schemas.microsoft.com/office/drawing/2014/main" id="{7DFEEC88-BF75-C637-31D6-75F80EFEDC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578" y="-22578"/>
            <a:ext cx="12259494" cy="6903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C6A581-49C5-D036-146B-21423C5F8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C0B369DE-32CB-74B1-4BC7-70F70CDFDA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7663A7-228E-4D61-B93B-B08D171C65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FEF1A5-91AC-ED57-2E75-04492DEA3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8295" y="1473668"/>
            <a:ext cx="5734878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5D5101C-DD34-661F-F841-CDA0FB03F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EAD35D-B5CE-F916-1267-07CDEEFC9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6" y="857279"/>
            <a:ext cx="5734878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728AA1B-E7A2-4FD5-1DA0-2FE2ECAF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7E55409-00FF-94AF-6E41-4C9091D1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2661-DA8D-272B-3DC5-BDCDF5DA2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57278"/>
            <a:ext cx="1174805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C9C6C-51BF-DFA1-0946-0D5A1F8DA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3" y="1472542"/>
            <a:ext cx="11748052" cy="47493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0F0954E-653A-9E31-95D3-87AD323D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817" y="649094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81065BD-10CB-C6D8-7F2D-E388DD44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4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1A892D-2994-6D50-3069-1A9A4F2D2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930" y="1473668"/>
            <a:ext cx="5675243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02E3E9C-046A-FF09-7383-7803DB446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2821C4-C3E0-D2D8-D991-51B469D0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930" y="857279"/>
            <a:ext cx="116803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C4638-AA64-D0D4-929D-AB316339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401B1D-3AE6-933C-521C-56AF219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pport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5B38F66-4F5A-20F4-A243-223A9C8FC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190089" y="1500017"/>
            <a:ext cx="382815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26664D8-A3DE-0753-B041-3C04A55D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508060"/>
            <a:ext cx="4114800" cy="34800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235A24-5841-35FD-6AE5-7C4974AF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15E0E3-1C45-3B1E-6394-7847BAA468D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8174" y="1500017"/>
            <a:ext cx="7756447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18C059-48A4-A7A3-39DB-89111AA1E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83627"/>
            <a:ext cx="11720069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2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5FDAFE6-7446-AA65-D793-8D7DC122D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8112" y="1431524"/>
            <a:ext cx="807057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796046-07CD-9152-9B9B-98FBCA98D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511D2A6-F08D-ED16-4294-7D2C0E23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F2E487-2349-F4B2-23DB-12F18233A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08F48A-834E-521F-4709-3CC6C6EE0D3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52065" y="1431524"/>
            <a:ext cx="3594160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7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74CD91F-7EE2-8129-7C77-E3875FF8F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431524"/>
            <a:ext cx="12192000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5CE118-B95D-BB39-1191-952C8020B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B6B8A1-3163-FADB-1B96-75D562CA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D0597D-2147-E0C5-32CD-4F5C650E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1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9BC0-73C6-6D5B-CC45-D7381E93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41A98B-A394-4427-E518-7D101E969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675861"/>
            <a:ext cx="12192000" cy="61802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62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75FB0D-3381-4690-9E1D-699055FE1174}"/>
              </a:ext>
            </a:extLst>
          </p:cNvPr>
          <p:cNvSpPr/>
          <p:nvPr userDrawn="1"/>
        </p:nvSpPr>
        <p:spPr>
          <a:xfrm>
            <a:off x="0" y="-6875"/>
            <a:ext cx="12192000" cy="6858000"/>
          </a:xfrm>
          <a:prstGeom prst="rect">
            <a:avLst/>
          </a:pr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28D91A5-7E19-6A17-FF7C-0343CE673D06}"/>
              </a:ext>
            </a:extLst>
          </p:cNvPr>
          <p:cNvSpPr/>
          <p:nvPr userDrawn="1"/>
        </p:nvSpPr>
        <p:spPr>
          <a:xfrm>
            <a:off x="1180506" y="-6875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DDE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3A1F76-CCC7-8BEA-A864-39C233BC3BF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180506" y="5298721"/>
            <a:ext cx="4020756" cy="5145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0905FC-DF31-E5BD-5EC6-F4602A2DE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06" y="3164862"/>
            <a:ext cx="7991061" cy="51452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3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819B3-0C8A-B714-05A0-C54383CBDF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/>
          </a:solidFill>
          <a:ln>
            <a:solidFill>
              <a:srgbClr val="141B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480110-B3DD-F57C-70BB-B5A1A3C9A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6009" y="3091867"/>
            <a:ext cx="10515600" cy="67426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CD5772-AF8B-16B0-A3AB-F2063CC87B4C}"/>
              </a:ext>
            </a:extLst>
          </p:cNvPr>
          <p:cNvSpPr/>
          <p:nvPr userDrawn="1"/>
        </p:nvSpPr>
        <p:spPr>
          <a:xfrm>
            <a:off x="1166009" y="-9939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81B90-8727-D4AC-A344-4C6FC116EB35}"/>
              </a:ext>
            </a:extLst>
          </p:cNvPr>
          <p:cNvSpPr txBox="1"/>
          <p:nvPr userDrawn="1"/>
        </p:nvSpPr>
        <p:spPr>
          <a:xfrm>
            <a:off x="-141402" y="-1979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5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6E3935E6-C813-FA79-2449-203FBA214CB3}"/>
              </a:ext>
            </a:extLst>
          </p:cNvPr>
          <p:cNvSpPr/>
          <p:nvPr userDrawn="1"/>
        </p:nvSpPr>
        <p:spPr>
          <a:xfrm>
            <a:off x="1659421" y="0"/>
            <a:ext cx="10532579" cy="703992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5024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DB364-DE50-1D24-0C6B-777D6565B72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39685" y="130973"/>
            <a:ext cx="1171580" cy="4610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B447B9-37C4-E565-3963-AE7B51F560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80050" y="6350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73086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0"/>
            <a:ext cx="7772400" cy="4114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32004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6400800" cy="1371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Session 4: Deploying Models On-Premise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6400800" cy="548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0">
                <a:solidFill>
                  <a:srgbClr val="1B75BC"/>
                </a:solidFill>
              </a:rPr>
              <a:t>Module 5: Deep Learning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4008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SMU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Why Deploy On-Premise?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833041" y="2014530"/>
            <a:ext cx="4150695" cy="1065237"/>
          </a:xfrm>
          <a:prstGeom prst="roundRect">
            <a:avLst>
              <a:gd name="adj" fmla="val 7793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109646" y="2263572"/>
            <a:ext cx="3669434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09646" y="2598384"/>
            <a:ext cx="3669434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data stays internal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05053" y="2014530"/>
            <a:ext cx="4150695" cy="1065237"/>
          </a:xfrm>
          <a:prstGeom prst="roundRect">
            <a:avLst>
              <a:gd name="adj" fmla="val 7793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481658" y="2263572"/>
            <a:ext cx="3669434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81658" y="2598384"/>
            <a:ext cx="3669434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GDPR, HIPAA, financial regulations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833041" y="3301083"/>
            <a:ext cx="4150695" cy="1065237"/>
          </a:xfrm>
          <a:prstGeom prst="roundRect">
            <a:avLst>
              <a:gd name="adj" fmla="val 7793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109646" y="3550125"/>
            <a:ext cx="3669434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Latency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09646" y="3884937"/>
            <a:ext cx="3669434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network round-trip to cloud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05053" y="3301083"/>
            <a:ext cx="4150695" cy="1065237"/>
          </a:xfrm>
          <a:prstGeom prst="roundRect">
            <a:avLst>
              <a:gd name="adj" fmla="val 7793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81658" y="3550125"/>
            <a:ext cx="3669434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Control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81658" y="3884937"/>
            <a:ext cx="3669434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for high-volume inference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When to Choose What?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83762"/>
            <a:ext cx="4358229" cy="583853"/>
          </a:xfrm>
          <a:prstGeom prst="roundRect">
            <a:avLst>
              <a:gd name="adj" fmla="val 1421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18406" y="2249790"/>
            <a:ext cx="3993908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94476" y="2083762"/>
            <a:ext cx="4358229" cy="583853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76635" y="2249790"/>
            <a:ext cx="3993908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6246" y="2667616"/>
            <a:ext cx="4358229" cy="519322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1736246" y="3181751"/>
            <a:ext cx="4358229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1957562" y="2805918"/>
            <a:ext cx="3993908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scaling on demand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94476" y="2667616"/>
            <a:ext cx="4358229" cy="519322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094476" y="3181751"/>
            <a:ext cx="4358229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315791" y="2805918"/>
            <a:ext cx="3993908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requirements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736246" y="3701074"/>
            <a:ext cx="4358229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1957562" y="3325241"/>
            <a:ext cx="3993908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setup, no hardware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94476" y="3701074"/>
            <a:ext cx="4358229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315791" y="3325241"/>
            <a:ext cx="3993908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Stable, predictable workload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736246" y="3706263"/>
            <a:ext cx="4358229" cy="519322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736246" y="4220398"/>
            <a:ext cx="4358229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957562" y="3844565"/>
            <a:ext cx="3993908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or unpredictable load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094476" y="3706263"/>
            <a:ext cx="4358229" cy="519322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6094476" y="4220398"/>
            <a:ext cx="4358229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315791" y="3844565"/>
            <a:ext cx="3993908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needs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736246" y="4739721"/>
            <a:ext cx="4358229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1957562" y="4363888"/>
            <a:ext cx="3993908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Pay-per-use cost model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94476" y="4739721"/>
            <a:ext cx="4358229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6315791" y="4363888"/>
            <a:ext cx="3993908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hardware investment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Industry Standard: Linux + Nvidia GPUs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4276046" cy="19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1000"/>
              </a:spcAft>
              <a:buNone/>
            </a:pPr>
            <a:r>
              <a:rPr lang="en-US" sz="137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736246" y="2350639"/>
            <a:ext cx="4192202" cy="131638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server (Ubuntu/RHEL)</a:t>
            </a:r>
            <a:endParaRPr lang="en-US" sz="1300" dirty="0"/>
          </a:p>
          <a:p>
            <a:pPr marL="114300" indent="-11430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GPU with CUDA toolkit</a:t>
            </a:r>
            <a:endParaRPr lang="en-US" sz="1300" dirty="0"/>
          </a:p>
          <a:p>
            <a:pPr marL="114300" indent="-11430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Nvidia Container Runtime</a:t>
            </a:r>
            <a:endParaRPr lang="en-US" sz="1300" dirty="0"/>
          </a:p>
          <a:p>
            <a:pPr marL="114300" indent="-114300" algn="l">
              <a:lnSpc>
                <a:spcPts val="2080"/>
              </a:lnSpc>
              <a:spcAft>
                <a:spcPts val="400"/>
              </a:spcAft>
              <a:buSzPct val="100000"/>
              <a:buChar char="•"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serving framework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0503" y="2152832"/>
            <a:ext cx="4192202" cy="1571589"/>
          </a:xfrm>
          <a:prstGeom prst="roundRect">
            <a:avLst>
              <a:gd name="adj" fmla="val 528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37108" y="2401874"/>
            <a:ext cx="3711771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GPU Hardware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108" y="2728255"/>
            <a:ext cx="3711771" cy="249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A100 (data centre, 80 GB)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37108" y="2977296"/>
            <a:ext cx="3711771" cy="249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 (next-gen, fastest)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37108" y="3226338"/>
            <a:ext cx="3711771" cy="249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4090 (cost-effective)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Model Serving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2757941" cy="2022491"/>
          </a:xfrm>
          <a:prstGeom prst="roundRect">
            <a:avLst>
              <a:gd name="adj" fmla="val 410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34409" y="2263572"/>
            <a:ext cx="2361615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Triton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957562" y="2653672"/>
            <a:ext cx="2315310" cy="107901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Multi-framework support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batching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715505" y="2014530"/>
            <a:ext cx="2757941" cy="2022491"/>
          </a:xfrm>
          <a:prstGeom prst="roundRect">
            <a:avLst>
              <a:gd name="adj" fmla="val 410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913668" y="2263572"/>
            <a:ext cx="2361615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TorchServe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6820" y="2653672"/>
            <a:ext cx="2315310" cy="107901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PyTorch-native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get started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versioning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and gRPC APIs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94763" y="2014530"/>
            <a:ext cx="2757941" cy="2022491"/>
          </a:xfrm>
          <a:prstGeom prst="roundRect">
            <a:avLst>
              <a:gd name="adj" fmla="val 410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892926" y="2263572"/>
            <a:ext cx="2361615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16079" y="2653672"/>
            <a:ext cx="2315310" cy="107901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Optimised for LLMs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batching</a:t>
            </a:r>
            <a:endParaRPr lang="en-US" sz="1100" dirty="0"/>
          </a:p>
          <a:p>
            <a:pPr marL="101600" indent="-101600" algn="l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API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Apple Silicon for ML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1660278" cy="638818"/>
          </a:xfrm>
          <a:prstGeom prst="roundRect">
            <a:avLst>
              <a:gd name="adj" fmla="val 1299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45386" y="2217038"/>
            <a:ext cx="1089850" cy="242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17840" y="2014530"/>
            <a:ext cx="6834865" cy="638818"/>
          </a:xfrm>
          <a:prstGeom prst="roundRect">
            <a:avLst>
              <a:gd name="adj" fmla="val 1299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839157" y="2208121"/>
            <a:ext cx="4342693" cy="25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M1/M2/M3/M4 chips with unified memory architecture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36246" y="2874664"/>
            <a:ext cx="1660278" cy="854459"/>
          </a:xfrm>
          <a:prstGeom prst="roundRect">
            <a:avLst>
              <a:gd name="adj" fmla="val 97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945385" y="3068255"/>
            <a:ext cx="1241998" cy="467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17840" y="2874664"/>
            <a:ext cx="6834865" cy="854459"/>
          </a:xfrm>
          <a:prstGeom prst="roundRect">
            <a:avLst>
              <a:gd name="adj" fmla="val 971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39157" y="3176077"/>
            <a:ext cx="4964685" cy="25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models fit in shared CPU/GPU memory (up to 192 GB)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36246" y="3950440"/>
            <a:ext cx="1660278" cy="638818"/>
          </a:xfrm>
          <a:prstGeom prst="roundRect">
            <a:avLst>
              <a:gd name="adj" fmla="val 1299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931218" y="4152948"/>
            <a:ext cx="1256165" cy="242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17840" y="3950440"/>
            <a:ext cx="6834865" cy="638818"/>
          </a:xfrm>
          <a:prstGeom prst="roundRect">
            <a:avLst>
              <a:gd name="adj" fmla="val 1299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839157" y="4144031"/>
            <a:ext cx="5247649" cy="25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 for inference workloads, no separate GPU needed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736246" y="4865863"/>
            <a:ext cx="8716459" cy="694268"/>
          </a:xfrm>
          <a:prstGeom prst="roundRect">
            <a:avLst>
              <a:gd name="adj" fmla="val 11957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931218" y="5087180"/>
            <a:ext cx="8326514" cy="251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62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memory eliminates data transfer bottleneck between CPU and GPU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Apple MLX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4150695" cy="958388"/>
          </a:xfrm>
          <a:prstGeom prst="roundRect">
            <a:avLst>
              <a:gd name="adj" fmla="val 866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1762188" y="2014530"/>
            <a:ext cx="1" cy="958388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2037171" y="2235846"/>
            <a:ext cx="3672743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NumPy-like API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037171" y="2538555"/>
            <a:ext cx="3672743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to Python developers, easy adoption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80532" y="2014530"/>
            <a:ext cx="4150695" cy="958388"/>
          </a:xfrm>
          <a:prstGeom prst="roundRect">
            <a:avLst>
              <a:gd name="adj" fmla="val 866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6106473" y="2014530"/>
            <a:ext cx="1" cy="958388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381457" y="2235846"/>
            <a:ext cx="3672743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Optimised for Apple Silicon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81457" y="2538555"/>
            <a:ext cx="3672743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Metal acceleration on M-series chips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736246" y="3166510"/>
            <a:ext cx="4150695" cy="958388"/>
          </a:xfrm>
          <a:prstGeom prst="roundRect">
            <a:avLst>
              <a:gd name="adj" fmla="val 866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1762188" y="3166510"/>
            <a:ext cx="1" cy="958388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037171" y="3387826"/>
            <a:ext cx="3672743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Evaluation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037171" y="3690535"/>
            <a:ext cx="3672743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Computations only run when results are needed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532" y="3166510"/>
            <a:ext cx="4150695" cy="958388"/>
          </a:xfrm>
          <a:prstGeom prst="roundRect">
            <a:avLst>
              <a:gd name="adj" fmla="val 866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6106473" y="3166510"/>
            <a:ext cx="1" cy="958388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381457" y="3387826"/>
            <a:ext cx="3672743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62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Memory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81457" y="3690535"/>
            <a:ext cx="3672743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CPU/GPU data transfers, zero-copy sharing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Ollama: Run LLMs Locally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830139" cy="403719"/>
          </a:xfrm>
          <a:prstGeom prst="roundRect">
            <a:avLst>
              <a:gd name="adj" fmla="val 13708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36246" y="2125107"/>
            <a:ext cx="804681" cy="207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04687" y="2100138"/>
            <a:ext cx="3756093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way to download and run open-source LLMs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36246" y="2584278"/>
            <a:ext cx="830139" cy="403719"/>
          </a:xfrm>
          <a:prstGeom prst="roundRect">
            <a:avLst>
              <a:gd name="adj" fmla="val 13708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870841" y="2694855"/>
            <a:ext cx="612529" cy="207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04687" y="2669886"/>
            <a:ext cx="2824016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to pull and run models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36246" y="3154026"/>
            <a:ext cx="830139" cy="403719"/>
          </a:xfrm>
          <a:prstGeom prst="roundRect">
            <a:avLst>
              <a:gd name="adj" fmla="val 13708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870841" y="3264603"/>
            <a:ext cx="536027" cy="207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04687" y="3239633"/>
            <a:ext cx="2290834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REST API on port 11434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149" y="2014530"/>
            <a:ext cx="3320556" cy="2197922"/>
          </a:xfrm>
          <a:prstGeom prst="roundRect">
            <a:avLst>
              <a:gd name="adj" fmla="val 3777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353465" y="2263572"/>
            <a:ext cx="2935481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1000"/>
              </a:spcAft>
              <a:buNone/>
            </a:pPr>
            <a:r>
              <a:rPr lang="en-US" sz="162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Models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353465" y="2635513"/>
            <a:ext cx="2877923" cy="132789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</a:t>
            </a:r>
            <a:endParaRPr lang="en-US" sz="1200" dirty="0"/>
          </a:p>
          <a:p>
            <a:pPr marL="101600" indent="-101600" algn="l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</a:t>
            </a:r>
            <a:endParaRPr lang="en-US" sz="1200" dirty="0"/>
          </a:p>
          <a:p>
            <a:pPr marL="101600" indent="-101600" algn="l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</a:t>
            </a:r>
            <a:endParaRPr lang="en-US" sz="1200" dirty="0"/>
          </a:p>
          <a:p>
            <a:pPr marL="101600" indent="-101600" algn="l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</a:t>
            </a:r>
            <a:endParaRPr lang="en-US" sz="1200" dirty="0"/>
          </a:p>
          <a:p>
            <a:pPr marL="101600" indent="-101600" algn="l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many more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Distributed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830139" cy="403719"/>
          </a:xfrm>
          <a:prstGeom prst="roundRect">
            <a:avLst>
              <a:gd name="adj" fmla="val 1370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40124" y="2125107"/>
            <a:ext cx="487765" cy="13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04687" y="2014530"/>
            <a:ext cx="2664094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too large for a single device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36246" y="2611841"/>
            <a:ext cx="830139" cy="403719"/>
          </a:xfrm>
          <a:prstGeom prst="roundRect">
            <a:avLst>
              <a:gd name="adj" fmla="val 1370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987425" y="2722418"/>
            <a:ext cx="440463" cy="19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2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04687" y="2611841"/>
            <a:ext cx="2785979" cy="23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model across multiple machines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5544" y="2014530"/>
            <a:ext cx="3597161" cy="1666763"/>
          </a:xfrm>
          <a:prstGeom prst="roundRect">
            <a:avLst>
              <a:gd name="adj" fmla="val 4981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076861" y="2263572"/>
            <a:ext cx="3217618" cy="2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1000"/>
              </a:spcAft>
              <a:buNone/>
            </a:pPr>
            <a:r>
              <a:rPr lang="en-US" sz="162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 Types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76861" y="2635513"/>
            <a:ext cx="3154528" cy="79673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marL="101600" indent="-101600" algn="l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parallelism</a:t>
            </a:r>
            <a:endParaRPr lang="en-US" sz="1200" dirty="0"/>
          </a:p>
          <a:p>
            <a:pPr marL="101600" indent="-101600" algn="l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parallelism</a:t>
            </a:r>
            <a:endParaRPr lang="en-US" sz="1200" dirty="0"/>
          </a:p>
          <a:p>
            <a:pPr marL="101600" indent="-101600" algn="l">
              <a:lnSpc>
                <a:spcPts val="192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parallelism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5544" y="3874885"/>
            <a:ext cx="3597161" cy="899047"/>
          </a:xfrm>
          <a:prstGeom prst="roundRect">
            <a:avLst>
              <a:gd name="adj" fmla="val 9234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076861" y="4068476"/>
            <a:ext cx="3217618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Tools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76861" y="4367293"/>
            <a:ext cx="3217618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vLLM, text-generation-inference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Choosing Your Deployment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014530"/>
            <a:ext cx="2905486" cy="492408"/>
          </a:xfrm>
          <a:prstGeom prst="roundRect">
            <a:avLst>
              <a:gd name="adj" fmla="val 1685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76539" y="2152832"/>
            <a:ext cx="2624899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41732" y="2014530"/>
            <a:ext cx="2905486" cy="49240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782026" y="2152832"/>
            <a:ext cx="2624899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47219" y="2014530"/>
            <a:ext cx="2905486" cy="49240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687512" y="2152832"/>
            <a:ext cx="2624899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36246" y="2506939"/>
            <a:ext cx="2905486" cy="50002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736246" y="3001779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1902273" y="2645241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models + variable load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41732" y="2506939"/>
            <a:ext cx="2905486" cy="50002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1732" y="3001779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4807760" y="2645241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47219" y="2506939"/>
            <a:ext cx="2905486" cy="50002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7547219" y="3001779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713247" y="2645241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SageMaker / Vertex AI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736246" y="3501808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1902273" y="3145270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LLMs + privacy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41732" y="3501808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4807760" y="3145270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47219" y="3501808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7713247" y="3145270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server + Triton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736246" y="3506997"/>
            <a:ext cx="2905486" cy="50002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1736246" y="4001837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1902273" y="3645299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/ testing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641732" y="3506997"/>
            <a:ext cx="2905486" cy="50002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4641732" y="4001837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4807760" y="3645299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Mac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547219" y="3506997"/>
            <a:ext cx="2905486" cy="50002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7547219" y="4001837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7713247" y="3645299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MLX / Ollama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736246" y="4501866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1902273" y="4145328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Multi-GPU inference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41732" y="4501866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4807760" y="4145328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547219" y="4501866"/>
            <a:ext cx="2905486" cy="1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7713247" y="4145328"/>
            <a:ext cx="2624899" cy="213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/ TGI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Today's Hands-On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36246" y="1472184"/>
            <a:ext cx="1106744" cy="41506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736246" y="2186070"/>
            <a:ext cx="968441" cy="691674"/>
          </a:xfrm>
          <a:prstGeom prst="roundRect">
            <a:avLst>
              <a:gd name="adj" fmla="val 12002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33121" y="2415656"/>
            <a:ext cx="574527" cy="2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26004" y="2083762"/>
            <a:ext cx="7526701" cy="896290"/>
          </a:xfrm>
          <a:prstGeom prst="roundRect">
            <a:avLst>
              <a:gd name="adj" fmla="val 926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951945" y="2083762"/>
            <a:ext cx="1" cy="896290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3226929" y="2277353"/>
            <a:ext cx="7116269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LLMs with Ollama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26929" y="2570658"/>
            <a:ext cx="7116269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Install, pull, and interact with open-source models locally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36246" y="3303677"/>
            <a:ext cx="968441" cy="691674"/>
          </a:xfrm>
          <a:prstGeom prst="roundRect">
            <a:avLst>
              <a:gd name="adj" fmla="val 12002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929483" y="3533263"/>
            <a:ext cx="581804" cy="2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926004" y="3201370"/>
            <a:ext cx="7526701" cy="896290"/>
          </a:xfrm>
          <a:prstGeom prst="roundRect">
            <a:avLst>
              <a:gd name="adj" fmla="val 926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951945" y="3201370"/>
            <a:ext cx="1" cy="896290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3226929" y="3394961"/>
            <a:ext cx="7116269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MLX Framework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26929" y="3688266"/>
            <a:ext cx="7116269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inference on Apple Silicon using the MLX library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736246" y="4421285"/>
            <a:ext cx="968441" cy="691674"/>
          </a:xfrm>
          <a:prstGeom prst="roundRect">
            <a:avLst>
              <a:gd name="adj" fmla="val 12002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929483" y="4650870"/>
            <a:ext cx="581804" cy="2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926004" y="4318976"/>
            <a:ext cx="7526701" cy="896290"/>
          </a:xfrm>
          <a:prstGeom prst="roundRect">
            <a:avLst>
              <a:gd name="adj" fmla="val 926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2951945" y="4318976"/>
            <a:ext cx="1" cy="896290"/>
          </a:xfrm>
          <a:prstGeom prst="line">
            <a:avLst/>
          </a:prstGeom>
          <a:noFill/>
          <a:ln w="47625">
            <a:solidFill>
              <a:srgbClr val="1B75B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3226929" y="4512568"/>
            <a:ext cx="7116269" cy="251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Local Inference Server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226929" y="4805873"/>
            <a:ext cx="7116269" cy="21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REST API serving predictions from a local model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13641" y="6162631"/>
            <a:ext cx="9961668" cy="55288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746348" y="1483184"/>
            <a:ext cx="1104178" cy="41410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25187" y="1913617"/>
            <a:ext cx="9938577" cy="2124888"/>
          </a:xfrm>
          <a:prstGeom prst="rect">
            <a:avLst/>
          </a:prstGeom>
          <a:noFill/>
          <a:ln/>
        </p:spPr>
        <p:txBody>
          <a:bodyPr wrap="square" lIns="349250" tIns="0" rIns="0" bIns="0" rtlCol="0" anchor="t"/>
          <a:lstStyle/>
          <a:p>
            <a:pPr marL="349250" indent="-349250" algn="l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is essential for privacy, compliance, and low-latency use cases</a:t>
            </a:r>
            <a:endParaRPr lang="en-US" sz="1300" dirty="0"/>
          </a:p>
          <a:p>
            <a:pPr marL="349250" indent="-349250" algn="l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+ Nvidia is the industry standard for production GPU inference</a:t>
            </a:r>
            <a:endParaRPr lang="en-US" sz="1300" dirty="0"/>
          </a:p>
          <a:p>
            <a:pPr marL="349250" indent="-349250" algn="l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Silicon + MLX is a viable alternative for local inference</a:t>
            </a:r>
            <a:endParaRPr lang="en-US" sz="1300" dirty="0"/>
          </a:p>
          <a:p>
            <a:pPr marL="349250" indent="-349250" algn="l">
              <a:lnSpc>
                <a:spcPts val="1950"/>
              </a:lnSpc>
              <a:spcAft>
                <a:spcPts val="1000"/>
              </a:spcAft>
              <a:buSzPct val="100000"/>
              <a:buChar char="•"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makes running LLMs locally accessible to beginners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746348" y="5184430"/>
            <a:ext cx="8696255" cy="619381"/>
          </a:xfrm>
          <a:prstGeom prst="roundRect">
            <a:avLst>
              <a:gd name="adj" fmla="val 1337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940869" y="5377573"/>
            <a:ext cx="8307213" cy="23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62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Session 5 -- Implementing RAG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25187" y="6162760"/>
            <a:ext cx="9938577" cy="55159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bf5c7-4684-4220-98ae-9a5ac35c73f2">
      <Terms xmlns="http://schemas.microsoft.com/office/infopath/2007/PartnerControls"/>
    </lcf76f155ced4ddcb4097134ff3c332f>
    <_ip_UnifiedCompliancePolicyUIAction xmlns="http://schemas.microsoft.com/sharepoint/v3" xsi:nil="true"/>
    <TaxCatchAll xmlns="0fe0cff7-8ced-4c52-966c-389ff8b2e8ff" xsi:nil="true"/>
    <_ip_UnifiedCompliancePolicyProperties xmlns="http://schemas.microsoft.com/sharepoint/v3" xsi:nil="true"/>
    <_Flow_SignoffStatus xmlns="915bf5c7-4684-4220-98ae-9a5ac35c73f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48E3DCFFE0E14780E5F10C89E906F1" ma:contentTypeVersion="22" ma:contentTypeDescription="Create a new document." ma:contentTypeScope="" ma:versionID="d678dd369374279d2bd4081a9989cd29">
  <xsd:schema xmlns:xsd="http://www.w3.org/2001/XMLSchema" xmlns:xs="http://www.w3.org/2001/XMLSchema" xmlns:p="http://schemas.microsoft.com/office/2006/metadata/properties" xmlns:ns1="http://schemas.microsoft.com/sharepoint/v3" xmlns:ns2="915bf5c7-4684-4220-98ae-9a5ac35c73f2" xmlns:ns3="0fe0cff7-8ced-4c52-966c-389ff8b2e8ff" targetNamespace="http://schemas.microsoft.com/office/2006/metadata/properties" ma:root="true" ma:fieldsID="c298f6ed58f6c54907903d7bfd64939c" ns1:_="" ns2:_="" ns3:_="">
    <xsd:import namespace="http://schemas.microsoft.com/sharepoint/v3"/>
    <xsd:import namespace="915bf5c7-4684-4220-98ae-9a5ac35c73f2"/>
    <xsd:import namespace="0fe0cff7-8ced-4c52-966c-389ff8b2e8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bf5c7-4684-4220-98ae-9a5ac35c73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0cff7-8ced-4c52-966c-389ff8b2e8f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b8b229-ff41-4c1b-ac8a-01061b89586b}" ma:internalName="TaxCatchAll" ma:showField="CatchAllData" ma:web="0fe0cff7-8ced-4c52-966c-389ff8b2e8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018BC1-FE6B-4CFB-927A-42B2A8EBA393}">
  <ds:schemaRefs>
    <ds:schemaRef ds:uri="http://schemas.microsoft.com/office/2006/metadata/properties"/>
    <ds:schemaRef ds:uri="http://schemas.microsoft.com/office/infopath/2007/PartnerControls"/>
    <ds:schemaRef ds:uri="915bf5c7-4684-4220-98ae-9a5ac35c73f2"/>
    <ds:schemaRef ds:uri="http://schemas.microsoft.com/sharepoint/v3"/>
    <ds:schemaRef ds:uri="0fe0cff7-8ced-4c52-966c-389ff8b2e8ff"/>
  </ds:schemaRefs>
</ds:datastoreItem>
</file>

<file path=customXml/itemProps2.xml><?xml version="1.0" encoding="utf-8"?>
<ds:datastoreItem xmlns:ds="http://schemas.openxmlformats.org/officeDocument/2006/customXml" ds:itemID="{C6ADC0DB-75BE-4B68-A350-C5EBCE3F55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F6D3EE-A524-43B7-9AA3-263329DCC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15bf5c7-4684-4220-98ae-9a5ac35c73f2"/>
    <ds:schemaRef ds:uri="0fe0cff7-8ced-4c52-966c-389ff8b2e8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471</Words>
  <Application>Microsoft Macintosh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Why Deploy On-Premise?</vt:lpstr>
      <vt:lpstr>When to Choose What?</vt:lpstr>
      <vt:lpstr>Industry Standard: Linux + Nvidia GPUs</vt:lpstr>
      <vt:lpstr>Model Serving Frameworks</vt:lpstr>
      <vt:lpstr>Apple Silicon for ML</vt:lpstr>
      <vt:lpstr>Apple MLX Framework</vt:lpstr>
      <vt:lpstr>Ollama: Run LLMs Locally</vt:lpstr>
      <vt:lpstr>Distributed Inference</vt:lpstr>
      <vt:lpstr>Choosing Your Deployment Target</vt:lpstr>
      <vt:lpstr>Today's Hands-On Exercises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 TAN</dc:creator>
  <cp:lastModifiedBy>Huiliang Lui</cp:lastModifiedBy>
  <cp:revision>14</cp:revision>
  <dcterms:created xsi:type="dcterms:W3CDTF">2023-11-03T03:15:22Z</dcterms:created>
  <dcterms:modified xsi:type="dcterms:W3CDTF">2026-04-08T03:08:25Z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2023-11-03T03:34:00Z</vt:lpwstr>
  </property>
  <property fmtid="{D5CDD505-2E9C-101B-9397-08002B2CF9AE}" pid="4" name="MSIP_Label_6951d41b-6b8e-4636-984f-012bff14ba18_Method">
    <vt:lpwstr>Standard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e3cfe5ae-ba63-4311-8e61-757a6de15b4d</vt:lpwstr>
  </property>
  <property fmtid="{D5CDD505-2E9C-101B-9397-08002B2CF9AE}" pid="8" name="MSIP_Label_6951d41b-6b8e-4636-984f-012bff14ba18_ContentBits">
    <vt:lpwstr>1</vt:lpwstr>
  </property>
  <property fmtid="{D5CDD505-2E9C-101B-9397-08002B2CF9AE}" pid="9" name="ClassificationContentMarkingHeaderLocations">
    <vt:lpwstr>Office Theme:10</vt:lpwstr>
  </property>
  <property fmtid="{D5CDD505-2E9C-101B-9397-08002B2CF9AE}" pid="10" name="ClassificationContentMarkingHeaderText">
    <vt:lpwstr>SMU Classification: Restricted</vt:lpwstr>
  </property>
  <property fmtid="{D5CDD505-2E9C-101B-9397-08002B2CF9AE}" pid="11" name="ContentTypeId">
    <vt:lpwstr>0x010100D948E3DCFFE0E14780E5F10C89E906F1</vt:lpwstr>
  </property>
  <property fmtid="{D5CDD505-2E9C-101B-9397-08002B2CF9AE}" pid="12" name="MediaServiceImageTags">
    <vt:lpwstr/>
  </property>
</Properties>
</file>