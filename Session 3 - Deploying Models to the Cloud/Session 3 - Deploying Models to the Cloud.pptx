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877FDDE-4C5D-2E43-A8EF-B8DC82830E2B}">
          <p14:sldIdLst>
            <p14:sldId id="256"/>
            <p14:sldId id="257"/>
            <p14:sldId id="258"/>
          </p14:sldIdLst>
        </p14:section>
        <p14:section name="Contents" id="{774AFEC7-5172-7F48-9F5A-20F3747AEC82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ivider" id="{8619DD04-1180-4044-8A5F-0135ADF94FE5}">
          <p14:sldIdLst>
            <p14:sldId id="265"/>
          </p14:sldIdLst>
        </p14:section>
        <p14:section name="End Slide" id="{F8FB931A-37E7-C047-9EDB-F888AAF78027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/>
    <p:restoredTop sz="96301"/>
  </p:normalViewPr>
  <p:slideViewPr>
    <p:cSldViewPr snapToGrid="0">
      <p:cViewPr varScale="1">
        <p:scale>
          <a:sx n="122" d="100"/>
          <a:sy n="122" d="100"/>
        </p:scale>
        <p:origin x="6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uilding with a city in the background&#10;&#10;AI-generated content may be incorrect.">
            <a:extLst>
              <a:ext uri="{FF2B5EF4-FFF2-40B4-BE49-F238E27FC236}">
                <a16:creationId xmlns:a16="http://schemas.microsoft.com/office/drawing/2014/main" id="{7DFEEC88-BF75-C637-31D6-75F80EFEDC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578" y="-22578"/>
            <a:ext cx="12259494" cy="6903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C6A581-49C5-D036-146B-21423C5F8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C0B369DE-32CB-74B1-4BC7-70F70CDFD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7663A7-228E-4D61-B93B-B08D171C65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FEF1A5-91AC-ED57-2E75-04492DEA3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8295" y="1473668"/>
            <a:ext cx="5734878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5D5101C-DD34-661F-F841-CDA0FB03F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EAD35D-B5CE-F916-1267-07CDEEFC9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6" y="857279"/>
            <a:ext cx="5734878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728AA1B-E7A2-4FD5-1DA0-2FE2ECAF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E55409-00FF-94AF-6E41-4C9091D1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2661-DA8D-272B-3DC5-BDCDF5DA2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57278"/>
            <a:ext cx="1174805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C9C6C-51BF-DFA1-0946-0D5A1F8DA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3" y="1472542"/>
            <a:ext cx="11748052" cy="47493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0F0954E-653A-9E31-95D3-87AD323D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817" y="649094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81065BD-10CB-C6D8-7F2D-E388DD4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4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1A892D-2994-6D50-3069-1A9A4F2D2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930" y="1473668"/>
            <a:ext cx="5675243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02E3E9C-046A-FF09-7383-7803DB446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2821C4-C3E0-D2D8-D991-51B469D0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930" y="857279"/>
            <a:ext cx="116803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C4638-AA64-D0D4-929D-AB316339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401B1D-3AE6-933C-521C-56AF219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pport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5B38F66-4F5A-20F4-A243-223A9C8FC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190089" y="1500017"/>
            <a:ext cx="382815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26664D8-A3DE-0753-B041-3C04A55D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508060"/>
            <a:ext cx="4114800" cy="34800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235A24-5841-35FD-6AE5-7C4974AF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15E0E3-1C45-3B1E-6394-7847BAA468D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8174" y="1500017"/>
            <a:ext cx="7756447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18C059-48A4-A7A3-39DB-89111AA1E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83627"/>
            <a:ext cx="11720069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2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5FDAFE6-7446-AA65-D793-8D7DC122D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8112" y="1431524"/>
            <a:ext cx="807057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796046-07CD-9152-9B9B-98FBCA98D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511D2A6-F08D-ED16-4294-7D2C0E23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F2E487-2349-F4B2-23DB-12F18233A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08F48A-834E-521F-4709-3CC6C6EE0D3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52065" y="1431524"/>
            <a:ext cx="3594160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7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74CD91F-7EE2-8129-7C77-E3875FF8F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431524"/>
            <a:ext cx="12192000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5CE118-B95D-BB39-1191-952C8020B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B6B8A1-3163-FADB-1B96-75D562CA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0597D-2147-E0C5-32CD-4F5C650E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1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9BC0-73C6-6D5B-CC45-D7381E93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41A98B-A394-4427-E518-7D101E969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675861"/>
            <a:ext cx="12192000" cy="61802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62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5FB0D-3381-4690-9E1D-699055FE1174}"/>
              </a:ext>
            </a:extLst>
          </p:cNvPr>
          <p:cNvSpPr/>
          <p:nvPr userDrawn="1"/>
        </p:nvSpPr>
        <p:spPr>
          <a:xfrm>
            <a:off x="0" y="-6875"/>
            <a:ext cx="12192000" cy="6858000"/>
          </a:xfrm>
          <a:prstGeom prst="rect">
            <a:avLst/>
          </a:pr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28D91A5-7E19-6A17-FF7C-0343CE673D06}"/>
              </a:ext>
            </a:extLst>
          </p:cNvPr>
          <p:cNvSpPr/>
          <p:nvPr userDrawn="1"/>
        </p:nvSpPr>
        <p:spPr>
          <a:xfrm>
            <a:off x="1180506" y="-6875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DD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3A1F76-CCC7-8BEA-A864-39C233BC3BF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180506" y="5298721"/>
            <a:ext cx="4020756" cy="5145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905FC-DF31-E5BD-5EC6-F4602A2DE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06" y="3164862"/>
            <a:ext cx="7991061" cy="51452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3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819B3-0C8A-B714-05A0-C54383CBDF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/>
          </a:solidFill>
          <a:ln>
            <a:solidFill>
              <a:srgbClr val="141B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480110-B3DD-F57C-70BB-B5A1A3C9A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6009" y="3091867"/>
            <a:ext cx="10515600" cy="67426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CD5772-AF8B-16B0-A3AB-F2063CC87B4C}"/>
              </a:ext>
            </a:extLst>
          </p:cNvPr>
          <p:cNvSpPr/>
          <p:nvPr userDrawn="1"/>
        </p:nvSpPr>
        <p:spPr>
          <a:xfrm>
            <a:off x="1166009" y="-9939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81B90-8727-D4AC-A344-4C6FC116EB35}"/>
              </a:ext>
            </a:extLst>
          </p:cNvPr>
          <p:cNvSpPr txBox="1"/>
          <p:nvPr userDrawn="1"/>
        </p:nvSpPr>
        <p:spPr>
          <a:xfrm>
            <a:off x="-141402" y="-197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5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6E3935E6-C813-FA79-2449-203FBA214CB3}"/>
              </a:ext>
            </a:extLst>
          </p:cNvPr>
          <p:cNvSpPr/>
          <p:nvPr userDrawn="1"/>
        </p:nvSpPr>
        <p:spPr>
          <a:xfrm>
            <a:off x="1659421" y="0"/>
            <a:ext cx="10532579" cy="703992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5024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DB364-DE50-1D24-0C6B-777D6565B72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39685" y="130973"/>
            <a:ext cx="1171580" cy="4610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B447B9-37C4-E565-3963-AE7B51F560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6350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73086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0"/>
            <a:ext cx="7772400" cy="4114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32004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6400800" cy="1371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Session 3: Deploying Models to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6400800" cy="548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>
                <a:solidFill>
                  <a:srgbClr val="1B75BC"/>
                </a:solidFill>
              </a:rPr>
              <a:t>Module 5: Deep Learning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4008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SMU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Why Deploy to the Cloud?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241301" y="2014530"/>
            <a:ext cx="2421184" cy="1383510"/>
          </a:xfrm>
          <a:prstGeom prst="roundRect">
            <a:avLst>
              <a:gd name="adj" fmla="val 6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928222" y="2571307"/>
            <a:ext cx="1047181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83802" y="2014530"/>
            <a:ext cx="2421184" cy="1383510"/>
          </a:xfrm>
          <a:prstGeom prst="roundRect">
            <a:avLst>
              <a:gd name="adj" fmla="val 6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39464" y="2571307"/>
            <a:ext cx="1109859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26303" y="2014530"/>
            <a:ext cx="2421184" cy="1383510"/>
          </a:xfrm>
          <a:prstGeom prst="roundRect">
            <a:avLst>
              <a:gd name="adj" fmla="val 6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560636" y="2571307"/>
            <a:ext cx="2352520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Infrastructure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62551" y="3619358"/>
            <a:ext cx="2421184" cy="1383510"/>
          </a:xfrm>
          <a:prstGeom prst="roundRect">
            <a:avLst>
              <a:gd name="adj" fmla="val 6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167113" y="4176134"/>
            <a:ext cx="1211899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Pay-per-use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05053" y="3619358"/>
            <a:ext cx="2421184" cy="1383510"/>
          </a:xfrm>
          <a:prstGeom prst="roundRect">
            <a:avLst>
              <a:gd name="adj" fmla="val 6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789934" y="4176134"/>
            <a:ext cx="1251259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Access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Cloud vs On-Premise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4358229" cy="553371"/>
          </a:xfrm>
          <a:prstGeom prst="roundRect">
            <a:avLst>
              <a:gd name="adj" fmla="val 15001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310759" y="2171802"/>
            <a:ext cx="910313" cy="23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94476" y="2014530"/>
            <a:ext cx="4358229" cy="553371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268263" y="2171802"/>
            <a:ext cx="2075434" cy="23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6246" y="2567902"/>
            <a:ext cx="4358229" cy="664111"/>
          </a:xfrm>
          <a:prstGeom prst="rect">
            <a:avLst/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012851" y="2783057"/>
            <a:ext cx="180240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scaling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94476" y="2567902"/>
            <a:ext cx="4358229" cy="664111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71081" y="2783057"/>
            <a:ext cx="1511678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capacity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36246" y="3232013"/>
            <a:ext cx="4358229" cy="664111"/>
          </a:xfrm>
          <a:prstGeom prst="rect">
            <a:avLst/>
          </a:prstGeom>
          <a:solidFill>
            <a:srgbClr val="D1E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12851" y="3447168"/>
            <a:ext cx="2369963" cy="210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infrastructure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94476" y="3232013"/>
            <a:ext cx="4358229" cy="664111"/>
          </a:xfrm>
          <a:prstGeom prst="rect">
            <a:avLst/>
          </a:prstGeom>
          <a:solidFill>
            <a:srgbClr val="E5E7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371080" y="3447168"/>
            <a:ext cx="1305173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736246" y="3896124"/>
            <a:ext cx="4358229" cy="664111"/>
          </a:xfrm>
          <a:prstGeom prst="rect">
            <a:avLst/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012850" y="4111279"/>
            <a:ext cx="2208221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Pay-per-use pricing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094476" y="3896124"/>
            <a:ext cx="4358229" cy="664111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71081" y="4111279"/>
            <a:ext cx="1669333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cost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736246" y="4560235"/>
            <a:ext cx="4358229" cy="664111"/>
          </a:xfrm>
          <a:prstGeom prst="rect">
            <a:avLst/>
          </a:prstGeom>
          <a:solidFill>
            <a:srgbClr val="D1E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012851" y="4775391"/>
            <a:ext cx="1802404" cy="23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availability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094476" y="4560235"/>
            <a:ext cx="4358229" cy="664111"/>
          </a:xfrm>
          <a:prstGeom prst="rect">
            <a:avLst/>
          </a:prstGeom>
          <a:solidFill>
            <a:srgbClr val="E5E7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371081" y="4775391"/>
            <a:ext cx="1511678" cy="23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Containers and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4276046" cy="28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Container?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6246" y="2495751"/>
            <a:ext cx="4192202" cy="1576615"/>
          </a:xfrm>
          <a:prstGeom prst="roundRect">
            <a:avLst>
              <a:gd name="adj" fmla="val 526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985287" y="2744793"/>
            <a:ext cx="3768001" cy="107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shipping container: it packages everything needed to run your application, isolated from the host system. Same contents work on any ship (machine).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736246" y="4238394"/>
            <a:ext cx="4276046" cy="498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lightweight, standalone, executable package that includes code, runtime, libraries, and settings.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0503" y="2014530"/>
            <a:ext cx="4276046" cy="28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Docker Terms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60503" y="2495751"/>
            <a:ext cx="4192202" cy="508946"/>
          </a:xfrm>
          <a:prstGeom prst="roundRect">
            <a:avLst>
              <a:gd name="adj" fmla="val 10874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54095" y="2634054"/>
            <a:ext cx="3572774" cy="163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</a:t>
            </a: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Recipe to build an image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0503" y="3115275"/>
            <a:ext cx="4192202" cy="508946"/>
          </a:xfrm>
          <a:prstGeom prst="roundRect">
            <a:avLst>
              <a:gd name="adj" fmla="val 10874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454095" y="3253577"/>
            <a:ext cx="3572774" cy="342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Snapshot of your environment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0503" y="3734798"/>
            <a:ext cx="4192202" cy="508946"/>
          </a:xfrm>
          <a:prstGeom prst="roundRect">
            <a:avLst>
              <a:gd name="adj" fmla="val 10874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54095" y="3873102"/>
            <a:ext cx="3998610" cy="224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Running instance of an image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60503" y="4354323"/>
            <a:ext cx="4192202" cy="508946"/>
          </a:xfrm>
          <a:prstGeom prst="roundRect">
            <a:avLst>
              <a:gd name="adj" fmla="val 10874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54095" y="4492625"/>
            <a:ext cx="3404608" cy="24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Repository to store images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Why Docker for ML?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2720975" cy="774526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85287" y="2208121"/>
            <a:ext cx="387343" cy="387343"/>
          </a:xfrm>
          <a:prstGeom prst="roundRect">
            <a:avLst>
              <a:gd name="adj" fmla="val 257179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28941" y="2292756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10934" y="2287567"/>
            <a:ext cx="1741702" cy="28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6246" y="2789056"/>
            <a:ext cx="2720975" cy="2287441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985287" y="3010372"/>
            <a:ext cx="2267349" cy="46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Environment Everywhere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85287" y="3588228"/>
            <a:ext cx="2267349" cy="99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 runs identically on your laptop, in CI/CD, and in production. No more "works on my machine" issues.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33825" y="2014530"/>
            <a:ext cx="2721136" cy="774526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82867" y="2208121"/>
            <a:ext cx="387343" cy="387343"/>
          </a:xfrm>
          <a:prstGeom prst="roundRect">
            <a:avLst>
              <a:gd name="adj" fmla="val 257179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126520" y="2292756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08513" y="2287567"/>
            <a:ext cx="1635113" cy="28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33825" y="2789056"/>
            <a:ext cx="2721136" cy="2287441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82867" y="3010372"/>
            <a:ext cx="226751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Packaged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82867" y="3354588"/>
            <a:ext cx="2267514" cy="99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version, CUDA drivers, ML libraries, and system packages all bundled together in one image.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31569" y="2014530"/>
            <a:ext cx="2721136" cy="77452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980610" y="2208121"/>
            <a:ext cx="387343" cy="387343"/>
          </a:xfrm>
          <a:prstGeom prst="roundRect">
            <a:avLst>
              <a:gd name="adj" fmla="val 25717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124262" y="2292756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506256" y="2287567"/>
            <a:ext cx="1174810" cy="280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731569" y="2789056"/>
            <a:ext cx="2721136" cy="2287441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980610" y="3010372"/>
            <a:ext cx="226751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Anywhere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980610" y="3354588"/>
            <a:ext cx="2267514" cy="124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any machine with Docker installed. Deploy to AWS, GCP, Azure, or on-premise with the same container.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AWS Services for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957724" y="1986804"/>
            <a:ext cx="2628719" cy="1521813"/>
          </a:xfrm>
          <a:prstGeom prst="roundRect">
            <a:avLst>
              <a:gd name="adj" fmla="val 545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713020" y="2472403"/>
            <a:ext cx="1356825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9825" y="2825212"/>
            <a:ext cx="1624355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ML platform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80034" y="1986804"/>
            <a:ext cx="2628719" cy="1521813"/>
          </a:xfrm>
          <a:prstGeom prst="roundRect">
            <a:avLst>
              <a:gd name="adj" fmla="val 545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70884" y="2472403"/>
            <a:ext cx="546511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2078" y="2825212"/>
            <a:ext cx="1224633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registry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02346" y="1986804"/>
            <a:ext cx="2628719" cy="1521813"/>
          </a:xfrm>
          <a:prstGeom prst="roundRect">
            <a:avLst>
              <a:gd name="adj" fmla="val 545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660524" y="2472403"/>
            <a:ext cx="515007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12052" y="2825212"/>
            <a:ext cx="1009144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68960" y="3702209"/>
            <a:ext cx="2628719" cy="1521813"/>
          </a:xfrm>
          <a:prstGeom prst="roundRect">
            <a:avLst>
              <a:gd name="adj" fmla="val 545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898185" y="4187808"/>
            <a:ext cx="1570110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898184" y="4540617"/>
            <a:ext cx="1570111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logging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1271" y="3702209"/>
            <a:ext cx="2628719" cy="1521813"/>
          </a:xfrm>
          <a:prstGeom prst="roundRect">
            <a:avLst>
              <a:gd name="adj" fmla="val 545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915807" y="4187808"/>
            <a:ext cx="1275404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19887" y="4540617"/>
            <a:ext cx="1371324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compute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Amazon SageMaker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1959241"/>
            <a:ext cx="8890789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4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SageMaker Provides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6246" y="2422627"/>
            <a:ext cx="2033840" cy="494516"/>
          </a:xfrm>
          <a:prstGeom prst="roundRect">
            <a:avLst>
              <a:gd name="adj" fmla="val 11191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941649" y="2560930"/>
            <a:ext cx="1623031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63677" y="2422627"/>
            <a:ext cx="2034002" cy="494516"/>
          </a:xfrm>
          <a:prstGeom prst="roundRect">
            <a:avLst>
              <a:gd name="adj" fmla="val 11191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69080" y="2560930"/>
            <a:ext cx="1623197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91271" y="2422627"/>
            <a:ext cx="2033840" cy="494516"/>
          </a:xfrm>
          <a:prstGeom prst="roundRect">
            <a:avLst>
              <a:gd name="adj" fmla="val 11191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96676" y="2560930"/>
            <a:ext cx="1623031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8702" y="2422627"/>
            <a:ext cx="2034002" cy="494516"/>
          </a:xfrm>
          <a:prstGeom prst="roundRect">
            <a:avLst>
              <a:gd name="adj" fmla="val 11191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624105" y="2560930"/>
            <a:ext cx="1623197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736246" y="3249200"/>
            <a:ext cx="8890789" cy="269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4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Options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736246" y="3712586"/>
            <a:ext cx="2776426" cy="1173057"/>
          </a:xfrm>
          <a:prstGeom prst="roundRect">
            <a:avLst>
              <a:gd name="adj" fmla="val 7077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934224" y="3933902"/>
            <a:ext cx="2380469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934224" y="4268714"/>
            <a:ext cx="2380469" cy="39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predictions via endpoints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06263" y="3712586"/>
            <a:ext cx="2776426" cy="1173057"/>
          </a:xfrm>
          <a:prstGeom prst="roundRect">
            <a:avLst>
              <a:gd name="adj" fmla="val 7077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04241" y="3933902"/>
            <a:ext cx="2380469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04241" y="4268714"/>
            <a:ext cx="2380469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large datasets offline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76279" y="3712586"/>
            <a:ext cx="2776426" cy="1173057"/>
          </a:xfrm>
          <a:prstGeom prst="roundRect">
            <a:avLst>
              <a:gd name="adj" fmla="val 7077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874258" y="3933902"/>
            <a:ext cx="2380469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874258" y="4268714"/>
            <a:ext cx="2380469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Auto-scaling, pay per inference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SageMaker Deployment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28711" y="2222065"/>
            <a:ext cx="1472199" cy="1950637"/>
          </a:xfrm>
          <a:prstGeom prst="roundRect">
            <a:avLst>
              <a:gd name="adj" fmla="val 5714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85001" y="2515532"/>
            <a:ext cx="359619" cy="359619"/>
          </a:xfrm>
          <a:prstGeom prst="roundRect">
            <a:avLst>
              <a:gd name="adj" fmla="val 277006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221647" y="2596438"/>
            <a:ext cx="86327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56106" y="2985727"/>
            <a:ext cx="1017248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Model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083556" y="3435782"/>
            <a:ext cx="362345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69980" y="2772032"/>
            <a:ext cx="310582" cy="35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43543" y="2222065"/>
            <a:ext cx="1472199" cy="1950637"/>
          </a:xfrm>
          <a:prstGeom prst="roundRect">
            <a:avLst>
              <a:gd name="adj" fmla="val 5714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99833" y="2515532"/>
            <a:ext cx="359619" cy="359619"/>
          </a:xfrm>
          <a:prstGeom prst="roundRect">
            <a:avLst>
              <a:gd name="adj" fmla="val 277006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136479" y="2596438"/>
            <a:ext cx="86327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92436" y="2985727"/>
            <a:ext cx="974414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Model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00872" y="3393741"/>
            <a:ext cx="957380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SageMaker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84813" y="2772032"/>
            <a:ext cx="310582" cy="35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358375" y="2222065"/>
            <a:ext cx="1472199" cy="1950637"/>
          </a:xfrm>
          <a:prstGeom prst="roundRect">
            <a:avLst>
              <a:gd name="adj" fmla="val 5714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914667" y="2515532"/>
            <a:ext cx="359619" cy="359619"/>
          </a:xfrm>
          <a:prstGeom prst="roundRect">
            <a:avLst>
              <a:gd name="adj" fmla="val 277006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051312" y="2596438"/>
            <a:ext cx="86327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91173" y="2985727"/>
            <a:ext cx="1206607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Config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32904" y="3404251"/>
            <a:ext cx="922981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type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99645" y="2772032"/>
            <a:ext cx="310582" cy="35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273208" y="2222065"/>
            <a:ext cx="1472199" cy="1931028"/>
          </a:xfrm>
          <a:prstGeom prst="roundRect">
            <a:avLst>
              <a:gd name="adj" fmla="val 5714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829499" y="2515532"/>
            <a:ext cx="359619" cy="359619"/>
          </a:xfrm>
          <a:prstGeom prst="roundRect">
            <a:avLst>
              <a:gd name="adj" fmla="val 277006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966144" y="2596438"/>
            <a:ext cx="86327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18961" y="2985727"/>
            <a:ext cx="612565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652549" y="3330097"/>
            <a:ext cx="799843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814478" y="2772032"/>
            <a:ext cx="310582" cy="35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188041" y="2222065"/>
            <a:ext cx="1472199" cy="1931028"/>
          </a:xfrm>
          <a:prstGeom prst="roundRect">
            <a:avLst>
              <a:gd name="adj" fmla="val 5714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9744331" y="2515532"/>
            <a:ext cx="359619" cy="359619"/>
          </a:xfrm>
          <a:prstGeom prst="roundRect">
            <a:avLst>
              <a:gd name="adj" fmla="val 277006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9880976" y="2596438"/>
            <a:ext cx="86327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702919" y="2985727"/>
            <a:ext cx="517471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564828" y="3257105"/>
            <a:ext cx="798373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MLOps: DevOps for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88100"/>
            <a:ext cx="442632" cy="442632"/>
          </a:xfrm>
          <a:prstGeom prst="roundRect">
            <a:avLst>
              <a:gd name="adj" fmla="val 22505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3571" y="2195272"/>
            <a:ext cx="109977" cy="22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344906" y="2088100"/>
            <a:ext cx="3612875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44906" y="2395186"/>
            <a:ext cx="3612875" cy="4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model performance, latency, and errors in real time to ensure reliability.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08257" y="2088100"/>
            <a:ext cx="442632" cy="442632"/>
          </a:xfrm>
          <a:prstGeom prst="roundRect">
            <a:avLst>
              <a:gd name="adj" fmla="val 22505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75582" y="2195272"/>
            <a:ext cx="109977" cy="22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16917" y="2088100"/>
            <a:ext cx="3612875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Drift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16917" y="2395186"/>
            <a:ext cx="3612875" cy="4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degrades over time as real-world data distributions change.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736246" y="3459557"/>
            <a:ext cx="442632" cy="442632"/>
          </a:xfrm>
          <a:prstGeom prst="roundRect">
            <a:avLst>
              <a:gd name="adj" fmla="val 22505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903571" y="3566730"/>
            <a:ext cx="109977" cy="22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44906" y="3459557"/>
            <a:ext cx="3612875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344906" y="3766644"/>
            <a:ext cx="3612875" cy="4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pipelines to update models when performance drops below thresholds.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08257" y="3459557"/>
            <a:ext cx="442632" cy="442632"/>
          </a:xfrm>
          <a:prstGeom prst="roundRect">
            <a:avLst>
              <a:gd name="adj" fmla="val 22505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75582" y="3566730"/>
            <a:ext cx="109977" cy="22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16917" y="3459557"/>
            <a:ext cx="3612875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716917" y="3766644"/>
            <a:ext cx="3612875" cy="4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and similar tools provide visibility into predictions and system health.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Understanding Model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1959241"/>
            <a:ext cx="1383510" cy="581097"/>
          </a:xfrm>
          <a:prstGeom prst="roundRect">
            <a:avLst>
              <a:gd name="adj" fmla="val 9524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208225" y="2140834"/>
            <a:ext cx="656422" cy="213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13347" y="1959241"/>
            <a:ext cx="7139358" cy="741288"/>
          </a:xfrm>
          <a:prstGeom prst="roundRect">
            <a:avLst>
              <a:gd name="adj" fmla="val 746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534664" y="2097544"/>
            <a:ext cx="6830659" cy="4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degrades because real-world data changes over time, diverging from training data distributions.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736246" y="2921846"/>
            <a:ext cx="1383510" cy="581097"/>
          </a:xfrm>
          <a:prstGeom prst="roundRect">
            <a:avLst>
              <a:gd name="adj" fmla="val 9524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008149" y="3103439"/>
            <a:ext cx="1008320" cy="2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13347" y="2921846"/>
            <a:ext cx="7139358" cy="741288"/>
          </a:xfrm>
          <a:prstGeom prst="roundRect">
            <a:avLst>
              <a:gd name="adj" fmla="val 746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534664" y="3060148"/>
            <a:ext cx="6830659" cy="4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behaviour shifts, seasonal trends change, new product categories emerge, economic conditions fluctuate.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736246" y="3884451"/>
            <a:ext cx="1383510" cy="581097"/>
          </a:xfrm>
          <a:prstGeom prst="roundRect">
            <a:avLst>
              <a:gd name="adj" fmla="val 9524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68301" y="4066043"/>
            <a:ext cx="948168" cy="264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13347" y="3884451"/>
            <a:ext cx="7139358" cy="741288"/>
          </a:xfrm>
          <a:prstGeom prst="roundRect">
            <a:avLst>
              <a:gd name="adj" fmla="val 746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534664" y="4022753"/>
            <a:ext cx="6830659" cy="46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predictions continuously, set performance alerts, and retrain models regularly with fresh data.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SageMaker Model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1986804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93680" y="2085384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317343" y="1986804"/>
            <a:ext cx="3624885" cy="1047077"/>
          </a:xfrm>
          <a:prstGeom prst="roundRect">
            <a:avLst>
              <a:gd name="adj" fmla="val 7928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510934" y="2152832"/>
            <a:ext cx="3302458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10934" y="2441760"/>
            <a:ext cx="3302458" cy="42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changes in data distributions, missing values, and schema violations.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35820" y="1986804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93255" y="2085384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16917" y="1986804"/>
            <a:ext cx="3624885" cy="1047077"/>
          </a:xfrm>
          <a:prstGeom prst="roundRect">
            <a:avLst>
              <a:gd name="adj" fmla="val 7928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10509" y="2152832"/>
            <a:ext cx="3302458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Quality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10509" y="2441760"/>
            <a:ext cx="3302458" cy="42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accuracy, precision, recall, and other metrics against baselines.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36246" y="3227473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893680" y="3326053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317343" y="3227473"/>
            <a:ext cx="3624885" cy="1047077"/>
          </a:xfrm>
          <a:prstGeom prst="roundRect">
            <a:avLst>
              <a:gd name="adj" fmla="val 7928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510934" y="3393501"/>
            <a:ext cx="3302458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Detection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510934" y="3682429"/>
            <a:ext cx="3302458" cy="42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for fairness issues and detect bias drift across protected attributes.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35820" y="3227473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93255" y="3326053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16917" y="3227473"/>
            <a:ext cx="3624885" cy="1047077"/>
          </a:xfrm>
          <a:prstGeom prst="roundRect">
            <a:avLst>
              <a:gd name="adj" fmla="val 7928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910509" y="3393501"/>
            <a:ext cx="3302458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Attribution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10509" y="3682429"/>
            <a:ext cx="3302458" cy="42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predictions and track changes in feature importance over time.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AWS Cost Management Tips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012851" y="1959241"/>
            <a:ext cx="8439854" cy="2130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delete endpoints when not in use</a:t>
            </a:r>
            <a:endParaRPr lang="en-US" sz="1400" dirty="0"/>
          </a:p>
          <a:p>
            <a:pPr marL="342900" indent="-342900" algn="l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spot instances for training (up to 90% savings)</a:t>
            </a:r>
            <a:endParaRPr lang="en-US" sz="1400" dirty="0"/>
          </a:p>
          <a:p>
            <a:pPr marL="342900" indent="-342900" algn="l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smallest instance type (ml.t2.medium)</a:t>
            </a:r>
            <a:endParaRPr lang="en-US" sz="1400" dirty="0"/>
          </a:p>
          <a:p>
            <a:pPr marL="342900" indent="-342900" algn="l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CloudWatch billing alerts</a:t>
            </a:r>
            <a:endParaRPr lang="en-US" sz="1400" dirty="0"/>
          </a:p>
          <a:p>
            <a:pPr marL="342900" indent="-342900" algn="l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auto-scaling for variable workloads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Today's Hands-On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06747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93680" y="2105327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317343" y="1959241"/>
            <a:ext cx="8135362" cy="510243"/>
          </a:xfrm>
          <a:prstGeom prst="roundRect">
            <a:avLst>
              <a:gd name="adj" fmla="val 1084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538659" y="2097544"/>
            <a:ext cx="784658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a model for SageMaker (model.tar.gz)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36246" y="2655294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893680" y="2753872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317343" y="2607788"/>
            <a:ext cx="8135362" cy="510243"/>
          </a:xfrm>
          <a:prstGeom prst="roundRect">
            <a:avLst>
              <a:gd name="adj" fmla="val 1084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538659" y="2746090"/>
            <a:ext cx="784658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Dockerfile for ML inference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36246" y="3303840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893680" y="3402419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317343" y="3256333"/>
            <a:ext cx="8135362" cy="510243"/>
          </a:xfrm>
          <a:prstGeom prst="roundRect">
            <a:avLst>
              <a:gd name="adj" fmla="val 1084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38659" y="3394636"/>
            <a:ext cx="784658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a SageMaker endpoint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736246" y="3952386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893680" y="4050965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317343" y="3904880"/>
            <a:ext cx="8135362" cy="510243"/>
          </a:xfrm>
          <a:prstGeom prst="roundRect">
            <a:avLst>
              <a:gd name="adj" fmla="val 1084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538659" y="4043182"/>
            <a:ext cx="784658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inference requests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736246" y="4600932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893680" y="4699511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317343" y="4553425"/>
            <a:ext cx="8135362" cy="510243"/>
          </a:xfrm>
          <a:prstGeom prst="roundRect">
            <a:avLst>
              <a:gd name="adj" fmla="val 1084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538659" y="4691728"/>
            <a:ext cx="784658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with CloudWatch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736246" y="5249478"/>
            <a:ext cx="415069" cy="415069"/>
          </a:xfrm>
          <a:prstGeom prst="roundRect">
            <a:avLst>
              <a:gd name="adj" fmla="val 240000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893680" y="5348057"/>
            <a:ext cx="102038" cy="21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317343" y="5201972"/>
            <a:ext cx="8135362" cy="510243"/>
          </a:xfrm>
          <a:prstGeom prst="roundRect">
            <a:avLst>
              <a:gd name="adj" fmla="val 10846"/>
            </a:avLst>
          </a:prstGeom>
          <a:solidFill>
            <a:srgbClr val="F2F3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538659" y="5340274"/>
            <a:ext cx="7846584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resources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1"/>
          <p:cNvSpPr/>
          <p:nvPr/>
        </p:nvSpPr>
        <p:spPr>
          <a:xfrm>
            <a:off x="2168944" y="1472184"/>
            <a:ext cx="93651" cy="4745736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754746" y="2315870"/>
            <a:ext cx="820204" cy="35153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989149" y="2528988"/>
            <a:ext cx="7030857" cy="1481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60"/>
              </a:lnSpc>
              <a:spcAft>
                <a:spcPts val="1600"/>
              </a:spcAft>
              <a:buSzPct val="100000"/>
              <a:buChar char="•"/>
            </a:pPr>
            <a:r>
              <a:rPr lang="en-US" sz="17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containers ensure reproducible ML environments</a:t>
            </a:r>
            <a:endParaRPr lang="en-US" sz="1400" dirty="0"/>
          </a:p>
          <a:p>
            <a:pPr marL="342900" indent="-342900" algn="l">
              <a:lnSpc>
                <a:spcPts val="1960"/>
              </a:lnSpc>
              <a:spcAft>
                <a:spcPts val="1600"/>
              </a:spcAft>
              <a:buSzPct val="100000"/>
              <a:buChar char="•"/>
            </a:pPr>
            <a:r>
              <a:rPr lang="en-US" sz="17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simplifies the entire deployment lifecycle</a:t>
            </a:r>
            <a:endParaRPr lang="en-US" sz="1400" dirty="0"/>
          </a:p>
          <a:p>
            <a:pPr marL="342900" indent="-342900" algn="l">
              <a:lnSpc>
                <a:spcPts val="1960"/>
              </a:lnSpc>
              <a:spcAft>
                <a:spcPts val="1600"/>
              </a:spcAft>
              <a:buSzPct val="100000"/>
              <a:buChar char="•"/>
            </a:pPr>
            <a:r>
              <a:rPr lang="en-US" sz="17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monitor deployed models for drift and errors</a:t>
            </a:r>
            <a:endParaRPr lang="en-US" sz="1400" dirty="0"/>
          </a:p>
          <a:p>
            <a:pPr marL="342900" indent="-342900" algn="l">
              <a:lnSpc>
                <a:spcPts val="1960"/>
              </a:lnSpc>
              <a:spcAft>
                <a:spcPts val="1600"/>
              </a:spcAft>
              <a:buSzPct val="100000"/>
              <a:buChar char="•"/>
            </a:pPr>
            <a:r>
              <a:rPr lang="en-US" sz="17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 is critical — always clean up!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54746" y="5328781"/>
            <a:ext cx="7265260" cy="479104"/>
          </a:xfrm>
          <a:prstGeom prst="roundRect">
            <a:avLst>
              <a:gd name="adj" fmla="val 1467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965668" y="5469395"/>
            <a:ext cx="6980285" cy="19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</a:t>
            </a:r>
            <a:r>
              <a:rPr lang="en-US" sz="16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Session 4 — On-Premise Deployment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48E3DCFFE0E14780E5F10C89E906F1" ma:contentTypeVersion="22" ma:contentTypeDescription="Create a new document." ma:contentTypeScope="" ma:versionID="d678dd369374279d2bd4081a9989cd29">
  <xsd:schema xmlns:xsd="http://www.w3.org/2001/XMLSchema" xmlns:xs="http://www.w3.org/2001/XMLSchema" xmlns:p="http://schemas.microsoft.com/office/2006/metadata/properties" xmlns:ns1="http://schemas.microsoft.com/sharepoint/v3" xmlns:ns2="915bf5c7-4684-4220-98ae-9a5ac35c73f2" xmlns:ns3="0fe0cff7-8ced-4c52-966c-389ff8b2e8ff" targetNamespace="http://schemas.microsoft.com/office/2006/metadata/properties" ma:root="true" ma:fieldsID="c298f6ed58f6c54907903d7bfd64939c" ns1:_="" ns2:_="" ns3:_="">
    <xsd:import namespace="http://schemas.microsoft.com/sharepoint/v3"/>
    <xsd:import namespace="915bf5c7-4684-4220-98ae-9a5ac35c73f2"/>
    <xsd:import namespace="0fe0cff7-8ced-4c52-966c-389ff8b2e8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bf5c7-4684-4220-98ae-9a5ac35c73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0cff7-8ced-4c52-966c-389ff8b2e8f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b8b229-ff41-4c1b-ac8a-01061b89586b}" ma:internalName="TaxCatchAll" ma:showField="CatchAllData" ma:web="0fe0cff7-8ced-4c52-966c-389ff8b2e8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bf5c7-4684-4220-98ae-9a5ac35c73f2">
      <Terms xmlns="http://schemas.microsoft.com/office/infopath/2007/PartnerControls"/>
    </lcf76f155ced4ddcb4097134ff3c332f>
    <_ip_UnifiedCompliancePolicyUIAction xmlns="http://schemas.microsoft.com/sharepoint/v3" xsi:nil="true"/>
    <TaxCatchAll xmlns="0fe0cff7-8ced-4c52-966c-389ff8b2e8ff" xsi:nil="true"/>
    <_ip_UnifiedCompliancePolicyProperties xmlns="http://schemas.microsoft.com/sharepoint/v3" xsi:nil="true"/>
    <_Flow_SignoffStatus xmlns="915bf5c7-4684-4220-98ae-9a5ac35c73f2" xsi:nil="true"/>
  </documentManagement>
</p:properties>
</file>

<file path=customXml/itemProps1.xml><?xml version="1.0" encoding="utf-8"?>
<ds:datastoreItem xmlns:ds="http://schemas.openxmlformats.org/officeDocument/2006/customXml" ds:itemID="{C6ADC0DB-75BE-4B68-A350-C5EBCE3F55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F6D3EE-A524-43B7-9AA3-263329DCC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15bf5c7-4684-4220-98ae-9a5ac35c73f2"/>
    <ds:schemaRef ds:uri="0fe0cff7-8ced-4c52-966c-389ff8b2e8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018BC1-FE6B-4CFB-927A-42B2A8EBA393}">
  <ds:schemaRefs>
    <ds:schemaRef ds:uri="http://schemas.microsoft.com/office/2006/metadata/properties"/>
    <ds:schemaRef ds:uri="http://schemas.microsoft.com/office/infopath/2007/PartnerControls"/>
    <ds:schemaRef ds:uri="915bf5c7-4684-4220-98ae-9a5ac35c73f2"/>
    <ds:schemaRef ds:uri="http://schemas.microsoft.com/sharepoint/v3"/>
    <ds:schemaRef ds:uri="0fe0cff7-8ced-4c52-966c-389ff8b2e8ff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605</Words>
  <Application>Microsoft Macintosh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Why Deploy to the Cloud?</vt:lpstr>
      <vt:lpstr>Cloud vs On-Premise</vt:lpstr>
      <vt:lpstr>Containers and Docker</vt:lpstr>
      <vt:lpstr>Why Docker for ML?</vt:lpstr>
      <vt:lpstr>AWS Services for ML</vt:lpstr>
      <vt:lpstr>Amazon SageMaker</vt:lpstr>
      <vt:lpstr>SageMaker Deployment Workflow</vt:lpstr>
      <vt:lpstr>MLOps: DevOps for ML</vt:lpstr>
      <vt:lpstr>Understanding Model Drift</vt:lpstr>
      <vt:lpstr>SageMaker Model Monitor</vt:lpstr>
      <vt:lpstr>AWS Cost Management Tips</vt:lpstr>
      <vt:lpstr>Today's Hands-On Exercises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 TAN</dc:creator>
  <cp:lastModifiedBy>Huiliang Lui</cp:lastModifiedBy>
  <cp:revision>16</cp:revision>
  <dcterms:created xsi:type="dcterms:W3CDTF">2023-11-03T03:15:22Z</dcterms:created>
  <dcterms:modified xsi:type="dcterms:W3CDTF">2026-04-08T02:55:40Z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2023-11-03T03:34:00Z</vt:lpwstr>
  </property>
  <property fmtid="{D5CDD505-2E9C-101B-9397-08002B2CF9AE}" pid="4" name="MSIP_Label_6951d41b-6b8e-4636-984f-012bff14ba18_Method">
    <vt:lpwstr>Standard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e3cfe5ae-ba63-4311-8e61-757a6de15b4d</vt:lpwstr>
  </property>
  <property fmtid="{D5CDD505-2E9C-101B-9397-08002B2CF9AE}" pid="8" name="MSIP_Label_6951d41b-6b8e-4636-984f-012bff14ba18_ContentBits">
    <vt:lpwstr>1</vt:lpwstr>
  </property>
  <property fmtid="{D5CDD505-2E9C-101B-9397-08002B2CF9AE}" pid="9" name="ClassificationContentMarkingHeaderLocations">
    <vt:lpwstr>Office Theme:10</vt:lpwstr>
  </property>
  <property fmtid="{D5CDD505-2E9C-101B-9397-08002B2CF9AE}" pid="10" name="ClassificationContentMarkingHeaderText">
    <vt:lpwstr>SMU Classification: Restricted</vt:lpwstr>
  </property>
  <property fmtid="{D5CDD505-2E9C-101B-9397-08002B2CF9AE}" pid="11" name="ContentTypeId">
    <vt:lpwstr>0x010100D948E3DCFFE0E14780E5F10C89E906F1</vt:lpwstr>
  </property>
  <property fmtid="{D5CDD505-2E9C-101B-9397-08002B2CF9AE}" pid="12" name="MediaServiceImageTags">
    <vt:lpwstr/>
  </property>
</Properties>
</file>