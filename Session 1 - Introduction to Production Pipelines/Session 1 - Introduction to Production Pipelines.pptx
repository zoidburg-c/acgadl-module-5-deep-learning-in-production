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877FDDE-4C5D-2E43-A8EF-B8DC82830E2B}">
          <p14:sldIdLst>
            <p14:sldId id="256"/>
            <p14:sldId id="257"/>
            <p14:sldId id="258"/>
          </p14:sldIdLst>
        </p14:section>
        <p14:section name="Contents" id="{774AFEC7-5172-7F48-9F5A-20F3747AEC82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ivider" id="{8619DD04-1180-4044-8A5F-0135ADF94FE5}">
          <p14:sldIdLst>
            <p14:sldId id="265"/>
          </p14:sldIdLst>
        </p14:section>
        <p14:section name="End Slide" id="{F8FB931A-37E7-C047-9EDB-F888AAF7802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/>
    <p:restoredTop sz="96301"/>
  </p:normalViewPr>
  <p:slideViewPr>
    <p:cSldViewPr snapToGrid="0">
      <p:cViewPr varScale="1">
        <p:scale>
          <a:sx n="122" d="100"/>
          <a:sy n="122" d="100"/>
        </p:scale>
        <p:origin x="6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uilding with a city in the background&#10;&#10;AI-generated content may be incorrect.">
            <a:extLst>
              <a:ext uri="{FF2B5EF4-FFF2-40B4-BE49-F238E27FC236}">
                <a16:creationId xmlns:a16="http://schemas.microsoft.com/office/drawing/2014/main" id="{7DFEEC88-BF75-C637-31D6-75F80EFEDC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578" y="-22578"/>
            <a:ext cx="12259494" cy="6903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C6A581-49C5-D036-146B-21423C5F8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C0B369DE-32CB-74B1-4BC7-70F70CDFD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7663A7-228E-4D61-B93B-B08D171C65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FEF1A5-91AC-ED57-2E75-04492DEA3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8295" y="1473668"/>
            <a:ext cx="5734878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5D5101C-DD34-661F-F841-CDA0FB03F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EAD35D-B5CE-F916-1267-07CDEEFC9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6" y="857279"/>
            <a:ext cx="5734878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728AA1B-E7A2-4FD5-1DA0-2FE2ECAF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E55409-00FF-94AF-6E41-4C9091D1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2661-DA8D-272B-3DC5-BDCDF5DA2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57278"/>
            <a:ext cx="1174805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C9C6C-51BF-DFA1-0946-0D5A1F8DA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3" y="1472542"/>
            <a:ext cx="11748052" cy="47493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0F0954E-653A-9E31-95D3-87AD323D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817" y="649094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81065BD-10CB-C6D8-7F2D-E388DD4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4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1A892D-2994-6D50-3069-1A9A4F2D2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930" y="1473668"/>
            <a:ext cx="5675243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02E3E9C-046A-FF09-7383-7803DB446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2821C4-C3E0-D2D8-D991-51B469D0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930" y="857279"/>
            <a:ext cx="116803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C4638-AA64-D0D4-929D-AB316339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401B1D-3AE6-933C-521C-56AF219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pport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5B38F66-4F5A-20F4-A243-223A9C8FC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190089" y="1500017"/>
            <a:ext cx="382815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26664D8-A3DE-0753-B041-3C04A55D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508060"/>
            <a:ext cx="4114800" cy="34800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235A24-5841-35FD-6AE5-7C4974AF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15E0E3-1C45-3B1E-6394-7847BAA468D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8174" y="1500017"/>
            <a:ext cx="7756447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18C059-48A4-A7A3-39DB-89111AA1E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83627"/>
            <a:ext cx="11720069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2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5FDAFE6-7446-AA65-D793-8D7DC122D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8112" y="1431524"/>
            <a:ext cx="807057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796046-07CD-9152-9B9B-98FBCA98D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511D2A6-F08D-ED16-4294-7D2C0E23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F2E487-2349-F4B2-23DB-12F18233A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08F48A-834E-521F-4709-3CC6C6EE0D3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52065" y="1431524"/>
            <a:ext cx="3594160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7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74CD91F-7EE2-8129-7C77-E3875FF8F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431524"/>
            <a:ext cx="12192000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5CE118-B95D-BB39-1191-952C8020B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B6B8A1-3163-FADB-1B96-75D562CA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0597D-2147-E0C5-32CD-4F5C650E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1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9BC0-73C6-6D5B-CC45-D7381E93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41A98B-A394-4427-E518-7D101E969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675861"/>
            <a:ext cx="12192000" cy="61802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62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5FB0D-3381-4690-9E1D-699055FE1174}"/>
              </a:ext>
            </a:extLst>
          </p:cNvPr>
          <p:cNvSpPr/>
          <p:nvPr userDrawn="1"/>
        </p:nvSpPr>
        <p:spPr>
          <a:xfrm>
            <a:off x="0" y="-6875"/>
            <a:ext cx="12192000" cy="6858000"/>
          </a:xfrm>
          <a:prstGeom prst="rect">
            <a:avLst/>
          </a:pr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28D91A5-7E19-6A17-FF7C-0343CE673D06}"/>
              </a:ext>
            </a:extLst>
          </p:cNvPr>
          <p:cNvSpPr/>
          <p:nvPr userDrawn="1"/>
        </p:nvSpPr>
        <p:spPr>
          <a:xfrm>
            <a:off x="1180506" y="-6875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DD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3A1F76-CCC7-8BEA-A864-39C233BC3BF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180506" y="5298721"/>
            <a:ext cx="4020756" cy="5145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905FC-DF31-E5BD-5EC6-F4602A2DE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06" y="3164862"/>
            <a:ext cx="7991061" cy="51452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3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819B3-0C8A-B714-05A0-C54383CBDF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/>
          </a:solidFill>
          <a:ln>
            <a:solidFill>
              <a:srgbClr val="141B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480110-B3DD-F57C-70BB-B5A1A3C9A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6009" y="3091867"/>
            <a:ext cx="10515600" cy="67426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CD5772-AF8B-16B0-A3AB-F2063CC87B4C}"/>
              </a:ext>
            </a:extLst>
          </p:cNvPr>
          <p:cNvSpPr/>
          <p:nvPr userDrawn="1"/>
        </p:nvSpPr>
        <p:spPr>
          <a:xfrm>
            <a:off x="1166009" y="-9939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81B90-8727-D4AC-A344-4C6FC116EB35}"/>
              </a:ext>
            </a:extLst>
          </p:cNvPr>
          <p:cNvSpPr txBox="1"/>
          <p:nvPr userDrawn="1"/>
        </p:nvSpPr>
        <p:spPr>
          <a:xfrm>
            <a:off x="-141402" y="-197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5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6E3935E6-C813-FA79-2449-203FBA214CB3}"/>
              </a:ext>
            </a:extLst>
          </p:cNvPr>
          <p:cNvSpPr/>
          <p:nvPr userDrawn="1"/>
        </p:nvSpPr>
        <p:spPr>
          <a:xfrm>
            <a:off x="1659421" y="0"/>
            <a:ext cx="10532579" cy="703992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5024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DB364-DE50-1D24-0C6B-777D6565B72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39685" y="130973"/>
            <a:ext cx="1171580" cy="4610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B447B9-37C4-E565-3963-AE7B51F560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6350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73086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0"/>
            <a:ext cx="7772400" cy="4114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32004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6400800" cy="1371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Session 1: Introduction to Production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6400800" cy="548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>
                <a:solidFill>
                  <a:srgbClr val="1B75BC"/>
                </a:solidFill>
              </a:rPr>
              <a:t>Module 5: Deep Learning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4008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SMU Academy  |  Advanced Certificate in Generative AI and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What Does "Production" Mean for ML Models?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4294893" cy="3802133"/>
          </a:xfrm>
          <a:prstGeom prst="roundRect">
            <a:avLst>
              <a:gd name="adj" fmla="val 222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1993161"/>
            <a:ext cx="3806470" cy="29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69717" y="2482950"/>
            <a:ext cx="3806470" cy="29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notebook experiment...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69717" y="2916467"/>
            <a:ext cx="3731833" cy="754485"/>
          </a:xfrm>
          <a:prstGeom prst="roundRect">
            <a:avLst>
              <a:gd name="adj" fmla="val 7466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66755" y="3057231"/>
            <a:ext cx="3404514" cy="472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Notebook: Prototype, experiment, iterate quickly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69717" y="3755444"/>
            <a:ext cx="3731833" cy="754485"/>
          </a:xfrm>
          <a:prstGeom prst="roundRect">
            <a:avLst>
              <a:gd name="adj" fmla="val 7466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066755" y="3896208"/>
            <a:ext cx="3404514" cy="472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System: Reliable, scalable, always-on deployment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5540" y="1711631"/>
            <a:ext cx="4294893" cy="3802133"/>
          </a:xfrm>
          <a:prstGeom prst="roundRect">
            <a:avLst>
              <a:gd name="adj" fmla="val 222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87070" y="1993161"/>
            <a:ext cx="3806470" cy="29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Requirements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7070" y="2511169"/>
            <a:ext cx="3731833" cy="796896"/>
          </a:xfrm>
          <a:prstGeom prst="roundRect">
            <a:avLst>
              <a:gd name="adj" fmla="val 706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784108" y="2651934"/>
            <a:ext cx="340451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84108" y="2950461"/>
            <a:ext cx="3404514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works correctly under all conditions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7070" y="3448831"/>
            <a:ext cx="3731833" cy="796896"/>
          </a:xfrm>
          <a:prstGeom prst="roundRect">
            <a:avLst>
              <a:gd name="adj" fmla="val 706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784108" y="3589595"/>
            <a:ext cx="340451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84108" y="3888123"/>
            <a:ext cx="3404514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growing workloads efficiently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7070" y="4386492"/>
            <a:ext cx="3731833" cy="796896"/>
          </a:xfrm>
          <a:prstGeom prst="roundRect">
            <a:avLst>
              <a:gd name="adj" fmla="val 706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784108" y="4527257"/>
            <a:ext cx="340451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784108" y="4825784"/>
            <a:ext cx="3404514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update, debug, and extend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ML in Production: Real-World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82097"/>
            <a:ext cx="4337139" cy="1760137"/>
          </a:xfrm>
          <a:prstGeom prst="roundRect">
            <a:avLst>
              <a:gd name="adj" fmla="val 48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41663" y="2035572"/>
            <a:ext cx="506951" cy="50695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031176" y="2157030"/>
            <a:ext cx="127926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41663" y="2655070"/>
            <a:ext cx="3906791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41663" y="3014160"/>
            <a:ext cx="3906791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Netflix, Spotify: personalised content suggestions powering user engagement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0584" y="1782097"/>
            <a:ext cx="4337139" cy="1760137"/>
          </a:xfrm>
          <a:prstGeom prst="roundRect">
            <a:avLst>
              <a:gd name="adj" fmla="val 48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04059" y="2035572"/>
            <a:ext cx="506951" cy="50695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93572" y="2157030"/>
            <a:ext cx="127926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4059" y="2655070"/>
            <a:ext cx="3906791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4059" y="3014160"/>
            <a:ext cx="3906791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and payments: real-time transaction screening to prevent losses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88187" y="3795710"/>
            <a:ext cx="4337139" cy="1760137"/>
          </a:xfrm>
          <a:prstGeom prst="roundRect">
            <a:avLst>
              <a:gd name="adj" fmla="val 48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841663" y="4049185"/>
            <a:ext cx="506951" cy="50695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31176" y="4170642"/>
            <a:ext cx="127926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841663" y="4668682"/>
            <a:ext cx="3906791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841663" y="5027773"/>
            <a:ext cx="3906791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service: automated responses handling thousands of queries daily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50584" y="3795710"/>
            <a:ext cx="4337139" cy="1760137"/>
          </a:xfrm>
          <a:prstGeom prst="roundRect">
            <a:avLst>
              <a:gd name="adj" fmla="val 48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404059" y="4049185"/>
            <a:ext cx="506951" cy="506951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93572" y="4170642"/>
            <a:ext cx="127926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04059" y="4668682"/>
            <a:ext cx="3906791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04059" y="5027773"/>
            <a:ext cx="3906791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 and manufacturing: automated quality inspection at scale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The ML Production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84405" y="2063627"/>
            <a:ext cx="1830601" cy="703989"/>
          </a:xfrm>
          <a:prstGeom prst="roundRect">
            <a:avLst>
              <a:gd name="adj" fmla="val 120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24798" y="2322713"/>
            <a:ext cx="1149650" cy="18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15006" y="2267760"/>
            <a:ext cx="315775" cy="295721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80863" y="2063627"/>
            <a:ext cx="1830601" cy="703989"/>
          </a:xfrm>
          <a:prstGeom prst="roundRect">
            <a:avLst>
              <a:gd name="adj" fmla="val 120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47513" y="2322713"/>
            <a:ext cx="1097302" cy="18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11465" y="2267760"/>
            <a:ext cx="315775" cy="295721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77322" y="2063627"/>
            <a:ext cx="1830601" cy="703989"/>
          </a:xfrm>
          <a:prstGeom prst="roundRect">
            <a:avLst>
              <a:gd name="adj" fmla="val 12002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85516" y="2322713"/>
            <a:ext cx="614212" cy="18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107923" y="2267760"/>
            <a:ext cx="315775" cy="295721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73780" y="2063627"/>
            <a:ext cx="1830601" cy="703989"/>
          </a:xfrm>
          <a:prstGeom prst="roundRect">
            <a:avLst>
              <a:gd name="adj" fmla="val 1200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89732" y="2322713"/>
            <a:ext cx="798695" cy="18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52279" y="2908545"/>
            <a:ext cx="129272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884405" y="3331004"/>
            <a:ext cx="1830601" cy="703989"/>
          </a:xfrm>
          <a:prstGeom prst="roundRect">
            <a:avLst>
              <a:gd name="adj" fmla="val 1200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404567" y="3590091"/>
            <a:ext cx="790110" cy="18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715006" y="3535138"/>
            <a:ext cx="315775" cy="295721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080863" y="3331004"/>
            <a:ext cx="1830601" cy="703989"/>
          </a:xfrm>
          <a:prstGeom prst="roundRect">
            <a:avLst>
              <a:gd name="adj" fmla="val 12002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44132" y="3590091"/>
            <a:ext cx="903897" cy="18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11465" y="3535138"/>
            <a:ext cx="315775" cy="295721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77322" y="3331004"/>
            <a:ext cx="1830601" cy="703989"/>
          </a:xfrm>
          <a:prstGeom prst="roundRect">
            <a:avLst>
              <a:gd name="adj" fmla="val 120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784690" y="3590091"/>
            <a:ext cx="815864" cy="18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07923" y="3535138"/>
            <a:ext cx="315775" cy="295721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473780" y="3331004"/>
            <a:ext cx="1830601" cy="703989"/>
          </a:xfrm>
          <a:prstGeom prst="roundRect">
            <a:avLst>
              <a:gd name="adj" fmla="val 120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998487" y="3590091"/>
            <a:ext cx="781021" cy="18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588187" y="4598382"/>
            <a:ext cx="9012409" cy="647551"/>
          </a:xfrm>
          <a:prstGeom prst="roundRect">
            <a:avLst>
              <a:gd name="adj" fmla="val 1304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785224" y="4795420"/>
            <a:ext cx="8618338" cy="25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cycle: monitoring feeds back into data collection and retraining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Pipeline Stages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39686"/>
            <a:ext cx="366021" cy="366021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27266" y="1838205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94975" y="1711631"/>
            <a:ext cx="3353174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94975" y="1977485"/>
            <a:ext cx="3353174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raw data from multiple sources and APIs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88187" y="2583854"/>
            <a:ext cx="366021" cy="366021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727266" y="2682372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94975" y="2555799"/>
            <a:ext cx="3248141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94975" y="2821652"/>
            <a:ext cx="3248141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transform, and prepare data for training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588187" y="3449047"/>
            <a:ext cx="366021" cy="366021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727266" y="3547567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94975" y="3420994"/>
            <a:ext cx="3935742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94975" y="3686846"/>
            <a:ext cx="3935742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models on prepared datasets with tuned hyperparameters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588187" y="4531083"/>
            <a:ext cx="366021" cy="366021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727266" y="4629602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94975" y="4503029"/>
            <a:ext cx="3935742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094975" y="4768882"/>
            <a:ext cx="3935742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model performance against benchmarks and metrics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35076" y="1739686"/>
            <a:ext cx="366021" cy="366021"/>
          </a:xfrm>
          <a:prstGeom prst="roundRect">
            <a:avLst>
              <a:gd name="adj" fmla="val 5001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74154" y="1838205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41862" y="1711631"/>
            <a:ext cx="3634444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741862" y="1977485"/>
            <a:ext cx="3634444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 and containerise the model for deployment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35076" y="2583854"/>
            <a:ext cx="366021" cy="366021"/>
          </a:xfrm>
          <a:prstGeom prst="roundRect">
            <a:avLst>
              <a:gd name="adj" fmla="val 5001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74154" y="2682372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41862" y="2555799"/>
            <a:ext cx="363427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41862" y="2821652"/>
            <a:ext cx="3634275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model to cloud or on-premise infrastructure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35076" y="3449047"/>
            <a:ext cx="366021" cy="366021"/>
          </a:xfrm>
          <a:prstGeom prst="roundRect">
            <a:avLst>
              <a:gd name="adj" fmla="val 5001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374154" y="3547567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741862" y="3420994"/>
            <a:ext cx="345551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41862" y="3686846"/>
            <a:ext cx="3455515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latency, accuracy, and data drift in real time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35076" y="4314242"/>
            <a:ext cx="366021" cy="366021"/>
          </a:xfrm>
          <a:prstGeom prst="roundRect">
            <a:avLst>
              <a:gd name="adj" fmla="val 5001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374154" y="4412762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741862" y="4286188"/>
            <a:ext cx="3935742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41862" y="4552040"/>
            <a:ext cx="3935742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model with new data when performance drops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Model Training vs Model Serving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 2"/>
          <p:cNvSpPr/>
          <p:nvPr/>
        </p:nvSpPr>
        <p:spPr>
          <a:xfrm>
            <a:off x="1798945" y="1472184"/>
            <a:ext cx="1073764" cy="40270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98945" y="1767075"/>
            <a:ext cx="4161190" cy="4034215"/>
          </a:xfrm>
          <a:prstGeom prst="roundRect">
            <a:avLst>
              <a:gd name="adj" fmla="val 2581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067308" y="1875324"/>
            <a:ext cx="3696955" cy="31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4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067308" y="2242945"/>
            <a:ext cx="3696955" cy="19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model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067308" y="2622680"/>
            <a:ext cx="3624466" cy="657378"/>
          </a:xfrm>
          <a:prstGeom prst="roundRect">
            <a:avLst>
              <a:gd name="adj" fmla="val 8168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228389" y="2729962"/>
            <a:ext cx="3368351" cy="2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28389" y="2966077"/>
            <a:ext cx="3368351" cy="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Offline, batch processing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2067308" y="3414239"/>
            <a:ext cx="3624466" cy="657378"/>
          </a:xfrm>
          <a:prstGeom prst="roundRect">
            <a:avLst>
              <a:gd name="adj" fmla="val 8168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228389" y="3521521"/>
            <a:ext cx="3368351" cy="2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28389" y="3757636"/>
            <a:ext cx="3368351" cy="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GPU-heavy, high throughput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67308" y="4205798"/>
            <a:ext cx="3624466" cy="657378"/>
          </a:xfrm>
          <a:prstGeom prst="roundRect">
            <a:avLst>
              <a:gd name="adj" fmla="val 8168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228389" y="4313080"/>
            <a:ext cx="3368351" cy="2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28389" y="4549195"/>
            <a:ext cx="3368351" cy="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days per run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2067308" y="4997358"/>
            <a:ext cx="3624466" cy="657378"/>
          </a:xfrm>
          <a:prstGeom prst="roundRect">
            <a:avLst>
              <a:gd name="adj" fmla="val 8168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228389" y="5104639"/>
            <a:ext cx="3368351" cy="2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28389" y="5340754"/>
            <a:ext cx="3368351" cy="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and convergence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28500" y="1767076"/>
            <a:ext cx="4161190" cy="4068246"/>
          </a:xfrm>
          <a:prstGeom prst="roundRect">
            <a:avLst>
              <a:gd name="adj" fmla="val 2581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6862" y="1875324"/>
            <a:ext cx="3696955" cy="31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4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96862" y="2242945"/>
            <a:ext cx="3696955" cy="19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model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96862" y="2622680"/>
            <a:ext cx="3624466" cy="657378"/>
          </a:xfrm>
          <a:prstGeom prst="roundRect">
            <a:avLst>
              <a:gd name="adj" fmla="val 8168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57942" y="2729962"/>
            <a:ext cx="3368351" cy="2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657942" y="2966077"/>
            <a:ext cx="3368351" cy="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Online, real-time requests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6496862" y="3414239"/>
            <a:ext cx="3624466" cy="657378"/>
          </a:xfrm>
          <a:prstGeom prst="roundRect">
            <a:avLst>
              <a:gd name="adj" fmla="val 8168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57942" y="3521521"/>
            <a:ext cx="3368351" cy="2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57942" y="3757636"/>
            <a:ext cx="3368351" cy="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CPU/GPU, latency-sensitive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96862" y="4205798"/>
            <a:ext cx="3624466" cy="657378"/>
          </a:xfrm>
          <a:prstGeom prst="roundRect">
            <a:avLst>
              <a:gd name="adj" fmla="val 8168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657942" y="4313080"/>
            <a:ext cx="3368351" cy="2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657942" y="4549195"/>
            <a:ext cx="3368351" cy="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Milliseconds per request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6496862" y="4997358"/>
            <a:ext cx="3624466" cy="657378"/>
          </a:xfrm>
          <a:prstGeom prst="roundRect">
            <a:avLst>
              <a:gd name="adj" fmla="val 8168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657942" y="5104639"/>
            <a:ext cx="3368351" cy="2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657942" y="5340754"/>
            <a:ext cx="3368351" cy="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and speed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6" name="Text 33"/>
          <p:cNvSpPr/>
          <p:nvPr/>
        </p:nvSpPr>
        <p:spPr>
          <a:xfrm>
            <a:off x="1262064" y="5942322"/>
            <a:ext cx="9664823" cy="53640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Key Challenges in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82097"/>
            <a:ext cx="4337139" cy="1760137"/>
          </a:xfrm>
          <a:prstGeom prst="roundRect">
            <a:avLst>
              <a:gd name="adj" fmla="val 64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41663" y="2035572"/>
            <a:ext cx="619497" cy="619497"/>
          </a:xfrm>
          <a:prstGeom prst="roundRect">
            <a:avLst>
              <a:gd name="adj" fmla="val 1818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055470" y="2181618"/>
            <a:ext cx="191721" cy="32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658198" y="2035572"/>
            <a:ext cx="3073925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658198" y="2394663"/>
            <a:ext cx="3073925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thousands of concurrent requests without degradation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0584" y="1782097"/>
            <a:ext cx="4337139" cy="1760137"/>
          </a:xfrm>
          <a:prstGeom prst="roundRect">
            <a:avLst>
              <a:gd name="adj" fmla="val 64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04059" y="2035572"/>
            <a:ext cx="619497" cy="619497"/>
          </a:xfrm>
          <a:prstGeom prst="roundRect">
            <a:avLst>
              <a:gd name="adj" fmla="val 1818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25944" y="2181618"/>
            <a:ext cx="175561" cy="32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220593" y="2035572"/>
            <a:ext cx="3073925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20593" y="2394663"/>
            <a:ext cx="3073925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predictions in milliseconds for real-time applications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88187" y="3767490"/>
            <a:ext cx="4337139" cy="1760137"/>
          </a:xfrm>
          <a:prstGeom prst="roundRect">
            <a:avLst>
              <a:gd name="adj" fmla="val 64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841663" y="4020966"/>
            <a:ext cx="619497" cy="619497"/>
          </a:xfrm>
          <a:prstGeom prst="roundRect">
            <a:avLst>
              <a:gd name="adj" fmla="val 1818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47558" y="4167012"/>
            <a:ext cx="207542" cy="32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658198" y="4020966"/>
            <a:ext cx="3073925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658198" y="4380056"/>
            <a:ext cx="3073925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consistent results across environments and versions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50584" y="3767490"/>
            <a:ext cx="4337139" cy="1760137"/>
          </a:xfrm>
          <a:prstGeom prst="roundRect">
            <a:avLst>
              <a:gd name="adj" fmla="val 64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404059" y="4020966"/>
            <a:ext cx="619497" cy="619497"/>
          </a:xfrm>
          <a:prstGeom prst="roundRect">
            <a:avLst>
              <a:gd name="adj" fmla="val 1818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609953" y="4167012"/>
            <a:ext cx="207542" cy="32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220593" y="4020966"/>
            <a:ext cx="3073925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Drift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220593" y="4380056"/>
            <a:ext cx="3073925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respond when model performance degrades over time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Module 5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869717" y="1908669"/>
            <a:ext cx="56272" cy="3379674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28953" y="1846621"/>
            <a:ext cx="337967" cy="337967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854004" y="1931113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63958" y="1711631"/>
            <a:ext cx="7604267" cy="608110"/>
          </a:xfrm>
          <a:prstGeom prst="roundRect">
            <a:avLst>
              <a:gd name="adj" fmla="val 13894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460995" y="1796123"/>
            <a:ext cx="735439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 Production Pipelines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60995" y="2033922"/>
            <a:ext cx="735439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728953" y="2511004"/>
            <a:ext cx="337967" cy="337967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854004" y="2595496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63958" y="2376015"/>
            <a:ext cx="7604267" cy="608110"/>
          </a:xfrm>
          <a:prstGeom prst="roundRect">
            <a:avLst>
              <a:gd name="adj" fmla="val 138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460995" y="2460507"/>
            <a:ext cx="735439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 Model Optimisation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460995" y="2698306"/>
            <a:ext cx="735439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Quantisation, pruning, distillation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728953" y="3175388"/>
            <a:ext cx="337967" cy="337967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854004" y="3259879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263958" y="3040398"/>
            <a:ext cx="7604267" cy="608110"/>
          </a:xfrm>
          <a:prstGeom prst="roundRect">
            <a:avLst>
              <a:gd name="adj" fmla="val 138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460995" y="3124890"/>
            <a:ext cx="735439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Cloud Deployment (AWS)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460995" y="3362689"/>
            <a:ext cx="735439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SageMaker, Lambda, EC2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728953" y="3839771"/>
            <a:ext cx="337967" cy="337967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854004" y="3924263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263958" y="3704781"/>
            <a:ext cx="7604267" cy="608110"/>
          </a:xfrm>
          <a:prstGeom prst="roundRect">
            <a:avLst>
              <a:gd name="adj" fmla="val 138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460995" y="3789273"/>
            <a:ext cx="735439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4: On-Premise Deployment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460995" y="4027072"/>
            <a:ext cx="735439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Kubernetes, edge devices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728953" y="4504154"/>
            <a:ext cx="337967" cy="337967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854004" y="4588646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63958" y="4369165"/>
            <a:ext cx="7604267" cy="608110"/>
          </a:xfrm>
          <a:prstGeom prst="roundRect">
            <a:avLst>
              <a:gd name="adj" fmla="val 138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460995" y="4453657"/>
            <a:ext cx="735439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5: RAG Implementation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460995" y="4691455"/>
            <a:ext cx="735439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pipelines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728953" y="5168537"/>
            <a:ext cx="337967" cy="337967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1854004" y="5253029"/>
            <a:ext cx="87864" cy="168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263958" y="5033549"/>
            <a:ext cx="7604267" cy="608110"/>
          </a:xfrm>
          <a:prstGeom prst="roundRect">
            <a:avLst>
              <a:gd name="adj" fmla="val 138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460995" y="5118041"/>
            <a:ext cx="735439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6: Assessment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2460995" y="5355839"/>
            <a:ext cx="735439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and evaluation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Today's Hands-On: Build a Mini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669386"/>
            <a:ext cx="5529305" cy="19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build together in today's practical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88187" y="2063627"/>
            <a:ext cx="9012409" cy="782705"/>
          </a:xfrm>
          <a:prstGeom prst="roundRect">
            <a:avLst>
              <a:gd name="adj" fmla="val 1439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813445" y="2243666"/>
            <a:ext cx="422459" cy="422459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960711" y="2322878"/>
            <a:ext cx="127926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461160" y="2204391"/>
            <a:ext cx="5415981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 Pre-Trained Model (ResNet18)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61160" y="2488726"/>
            <a:ext cx="5415981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and initialise a production-ready image classifier from PyTorch Hub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88187" y="2958877"/>
            <a:ext cx="9012409" cy="782705"/>
          </a:xfrm>
          <a:prstGeom prst="roundRect">
            <a:avLst>
              <a:gd name="adj" fmla="val 1439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813445" y="3138917"/>
            <a:ext cx="422459" cy="422459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960711" y="3218128"/>
            <a:ext cx="127926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461160" y="3099642"/>
            <a:ext cx="5048026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Prediction Function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461160" y="3383977"/>
            <a:ext cx="5048026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inference pipeline with preprocessing and postprocessing steps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588187" y="3854128"/>
            <a:ext cx="9012409" cy="782705"/>
          </a:xfrm>
          <a:prstGeom prst="roundRect">
            <a:avLst>
              <a:gd name="adj" fmla="val 1439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813445" y="4034167"/>
            <a:ext cx="422459" cy="422459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960711" y="4113379"/>
            <a:ext cx="127926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461160" y="3994892"/>
            <a:ext cx="3537657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Load the Model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461160" y="4279227"/>
            <a:ext cx="353765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Serialise the model to disk and reload it for serving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588187" y="4749379"/>
            <a:ext cx="9012409" cy="782705"/>
          </a:xfrm>
          <a:prstGeom prst="roundRect">
            <a:avLst>
              <a:gd name="adj" fmla="val 1439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813445" y="4929419"/>
            <a:ext cx="422459" cy="422459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960711" y="5008630"/>
            <a:ext cx="127926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461160" y="4890143"/>
            <a:ext cx="4816749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It in a Simple API (FastAPI)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461160" y="5174478"/>
            <a:ext cx="4816749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the model as a REST endpoint ready for production requests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1"/>
          <p:cNvSpPr/>
          <p:nvPr/>
        </p:nvSpPr>
        <p:spPr>
          <a:xfrm>
            <a:off x="1876044" y="1472184"/>
            <a:ext cx="93651" cy="4745736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461845" y="2292388"/>
            <a:ext cx="937337" cy="35153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461845" y="2550136"/>
            <a:ext cx="328054" cy="328054"/>
          </a:xfrm>
          <a:prstGeom prst="roundRect">
            <a:avLst>
              <a:gd name="adj" fmla="val 1428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572579" y="2604239"/>
            <a:ext cx="106449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53858" y="2526792"/>
            <a:ext cx="5009149" cy="29880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ML is about reliability, scalability, and maintainability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461845" y="3088974"/>
            <a:ext cx="328054" cy="328054"/>
          </a:xfrm>
          <a:prstGeom prst="roundRect">
            <a:avLst>
              <a:gd name="adj" fmla="val 1428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572579" y="3143078"/>
            <a:ext cx="106449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53858" y="3065631"/>
            <a:ext cx="5265188" cy="29880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 pipeline has 8 key stages from data collection to retraining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461845" y="3627813"/>
            <a:ext cx="328054" cy="328054"/>
          </a:xfrm>
          <a:prstGeom prst="roundRect">
            <a:avLst>
              <a:gd name="adj" fmla="val 1428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572579" y="3681917"/>
            <a:ext cx="106449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53858" y="3604469"/>
            <a:ext cx="4740083" cy="29880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serving is fundamentally different from model training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461845" y="4166652"/>
            <a:ext cx="328054" cy="328054"/>
          </a:xfrm>
          <a:prstGeom prst="roundRect">
            <a:avLst>
              <a:gd name="adj" fmla="val 1428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72579" y="4220756"/>
            <a:ext cx="106449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953858" y="4143308"/>
            <a:ext cx="5002565" cy="29880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Scalability, latency, reproducibility, and drift are core challenges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461845" y="5250234"/>
            <a:ext cx="7264985" cy="557651"/>
          </a:xfrm>
          <a:prstGeom prst="roundRect">
            <a:avLst>
              <a:gd name="adj" fmla="val 1681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628147" y="5414193"/>
            <a:ext cx="6932383" cy="22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Session: Model Optimisation Techniques (Quantisation, Pruning, Distillation)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876044" y="6171094"/>
            <a:ext cx="8436864" cy="4682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bf5c7-4684-4220-98ae-9a5ac35c73f2">
      <Terms xmlns="http://schemas.microsoft.com/office/infopath/2007/PartnerControls"/>
    </lcf76f155ced4ddcb4097134ff3c332f>
    <_ip_UnifiedCompliancePolicyUIAction xmlns="http://schemas.microsoft.com/sharepoint/v3" xsi:nil="true"/>
    <TaxCatchAll xmlns="0fe0cff7-8ced-4c52-966c-389ff8b2e8ff" xsi:nil="true"/>
    <_ip_UnifiedCompliancePolicyProperties xmlns="http://schemas.microsoft.com/sharepoint/v3" xsi:nil="true"/>
    <_Flow_SignoffStatus xmlns="915bf5c7-4684-4220-98ae-9a5ac35c73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48E3DCFFE0E14780E5F10C89E906F1" ma:contentTypeVersion="22" ma:contentTypeDescription="Create a new document." ma:contentTypeScope="" ma:versionID="d678dd369374279d2bd4081a9989cd29">
  <xsd:schema xmlns:xsd="http://www.w3.org/2001/XMLSchema" xmlns:xs="http://www.w3.org/2001/XMLSchema" xmlns:p="http://schemas.microsoft.com/office/2006/metadata/properties" xmlns:ns1="http://schemas.microsoft.com/sharepoint/v3" xmlns:ns2="915bf5c7-4684-4220-98ae-9a5ac35c73f2" xmlns:ns3="0fe0cff7-8ced-4c52-966c-389ff8b2e8ff" targetNamespace="http://schemas.microsoft.com/office/2006/metadata/properties" ma:root="true" ma:fieldsID="c298f6ed58f6c54907903d7bfd64939c" ns1:_="" ns2:_="" ns3:_="">
    <xsd:import namespace="http://schemas.microsoft.com/sharepoint/v3"/>
    <xsd:import namespace="915bf5c7-4684-4220-98ae-9a5ac35c73f2"/>
    <xsd:import namespace="0fe0cff7-8ced-4c52-966c-389ff8b2e8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bf5c7-4684-4220-98ae-9a5ac35c73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0cff7-8ced-4c52-966c-389ff8b2e8f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b8b229-ff41-4c1b-ac8a-01061b89586b}" ma:internalName="TaxCatchAll" ma:showField="CatchAllData" ma:web="0fe0cff7-8ced-4c52-966c-389ff8b2e8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ADC0DB-75BE-4B68-A350-C5EBCE3F55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018BC1-FE6B-4CFB-927A-42B2A8EBA393}">
  <ds:schemaRefs>
    <ds:schemaRef ds:uri="http://schemas.microsoft.com/office/2006/metadata/properties"/>
    <ds:schemaRef ds:uri="http://schemas.microsoft.com/office/infopath/2007/PartnerControls"/>
    <ds:schemaRef ds:uri="915bf5c7-4684-4220-98ae-9a5ac35c73f2"/>
    <ds:schemaRef ds:uri="http://schemas.microsoft.com/sharepoint/v3"/>
    <ds:schemaRef ds:uri="0fe0cff7-8ced-4c52-966c-389ff8b2e8ff"/>
  </ds:schemaRefs>
</ds:datastoreItem>
</file>

<file path=customXml/itemProps3.xml><?xml version="1.0" encoding="utf-8"?>
<ds:datastoreItem xmlns:ds="http://schemas.openxmlformats.org/officeDocument/2006/customXml" ds:itemID="{85F6D3EE-A524-43B7-9AA3-263329DCC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15bf5c7-4684-4220-98ae-9a5ac35c73f2"/>
    <ds:schemaRef ds:uri="0fe0cff7-8ced-4c52-966c-389ff8b2e8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564</Words>
  <Application>Microsoft Macintosh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What Does "Production" Mean for ML Models?</vt:lpstr>
      <vt:lpstr>ML in Production: Real-World Examples</vt:lpstr>
      <vt:lpstr>The ML Production Pipeline</vt:lpstr>
      <vt:lpstr>Pipeline Stages Explained</vt:lpstr>
      <vt:lpstr>Model Training vs Model Serving</vt:lpstr>
      <vt:lpstr>Key Challenges in Production</vt:lpstr>
      <vt:lpstr>Module 5 Roadmap</vt:lpstr>
      <vt:lpstr>Today's Hands-On: Build a Mini Pipeline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 TAN</dc:creator>
  <cp:lastModifiedBy>Huiliang Lui</cp:lastModifiedBy>
  <cp:revision>15</cp:revision>
  <dcterms:created xsi:type="dcterms:W3CDTF">2023-11-03T03:15:22Z</dcterms:created>
  <dcterms:modified xsi:type="dcterms:W3CDTF">2026-04-08T02:18:55Z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2023-11-03T03:34:00Z</vt:lpwstr>
  </property>
  <property fmtid="{D5CDD505-2E9C-101B-9397-08002B2CF9AE}" pid="4" name="MSIP_Label_6951d41b-6b8e-4636-984f-012bff14ba18_Method">
    <vt:lpwstr>Standard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e3cfe5ae-ba63-4311-8e61-757a6de15b4d</vt:lpwstr>
  </property>
  <property fmtid="{D5CDD505-2E9C-101B-9397-08002B2CF9AE}" pid="8" name="MSIP_Label_6951d41b-6b8e-4636-984f-012bff14ba18_ContentBits">
    <vt:lpwstr>1</vt:lpwstr>
  </property>
  <property fmtid="{D5CDD505-2E9C-101B-9397-08002B2CF9AE}" pid="9" name="ClassificationContentMarkingHeaderLocations">
    <vt:lpwstr>Office Theme:10</vt:lpwstr>
  </property>
  <property fmtid="{D5CDD505-2E9C-101B-9397-08002B2CF9AE}" pid="10" name="ClassificationContentMarkingHeaderText">
    <vt:lpwstr>SMU Classification: Restricted</vt:lpwstr>
  </property>
  <property fmtid="{D5CDD505-2E9C-101B-9397-08002B2CF9AE}" pid="11" name="ContentTypeId">
    <vt:lpwstr>0x010100D948E3DCFFE0E14780E5F10C89E906F1</vt:lpwstr>
  </property>
  <property fmtid="{D5CDD505-2E9C-101B-9397-08002B2CF9AE}" pid="12" name="MediaServiceImageTags">
    <vt:lpwstr/>
  </property>
</Properties>
</file>