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877FDDE-4C5D-2E43-A8EF-B8DC82830E2B}">
          <p14:sldIdLst>
            <p14:sldId id="256"/>
            <p14:sldId id="257"/>
            <p14:sldId id="258"/>
          </p14:sldIdLst>
        </p14:section>
        <p14:section name="Contents" id="{774AFEC7-5172-7F48-9F5A-20F3747AEC8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ivider" id="{8619DD04-1180-4044-8A5F-0135ADF94FE5}">
          <p14:sldIdLst>
            <p14:sldId id="265"/>
          </p14:sldIdLst>
        </p14:section>
        <p14:section name="End Slide" id="{F8FB931A-37E7-C047-9EDB-F888AAF7802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3"/>
    <p:restoredTop sz="96301"/>
  </p:normalViewPr>
  <p:slideViewPr>
    <p:cSldViewPr snapToGrid="0">
      <p:cViewPr varScale="1">
        <p:scale>
          <a:sx n="103" d="100"/>
          <a:sy n="103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city in the background&#10;&#10;AI-generated content may be incorrect.">
            <a:extLst>
              <a:ext uri="{FF2B5EF4-FFF2-40B4-BE49-F238E27FC236}">
                <a16:creationId xmlns:a16="http://schemas.microsoft.com/office/drawing/2014/main" id="{7DFEEC88-BF75-C637-31D6-75F80EFEDC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578" y="-22578"/>
            <a:ext cx="12259494" cy="690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C6A581-49C5-D036-146B-21423C5F8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C0B369DE-32CB-74B1-4BC7-70F70CDFD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7663A7-228E-4D61-B93B-B08D171C6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FEF1A5-91AC-ED57-2E75-04492DEA3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8295" y="1473668"/>
            <a:ext cx="5734878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5D5101C-DD34-661F-F841-CDA0FB03F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EAD35D-B5CE-F916-1267-07CDEEFC9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6" y="857279"/>
            <a:ext cx="5734878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728AA1B-E7A2-4FD5-1DA0-2FE2ECAF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E55409-00FF-94AF-6E41-4C9091D1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2661-DA8D-272B-3DC5-BDCDF5DA2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57278"/>
            <a:ext cx="1174805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C9C6C-51BF-DFA1-0946-0D5A1F8DA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3" y="1472542"/>
            <a:ext cx="11748052" cy="47493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F0954E-653A-9E31-95D3-87AD323D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817" y="649094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1065BD-10CB-C6D8-7F2D-E388DD4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4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1A892D-2994-6D50-3069-1A9A4F2D2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930" y="1473668"/>
            <a:ext cx="5675243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02E3E9C-046A-FF09-7383-7803DB446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2821C4-C3E0-D2D8-D991-51B469D0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930" y="857279"/>
            <a:ext cx="116803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C4638-AA64-D0D4-929D-AB316339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401B1D-3AE6-933C-521C-56AF219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pport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B38F66-4F5A-20F4-A243-223A9C8FC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190089" y="1500017"/>
            <a:ext cx="382815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26664D8-A3DE-0753-B041-3C04A55D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508060"/>
            <a:ext cx="4114800" cy="34800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235A24-5841-35FD-6AE5-7C4974AF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15E0E3-1C45-3B1E-6394-7847BAA468D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8174" y="1500017"/>
            <a:ext cx="7756447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18C059-48A4-A7A3-39DB-89111AA1E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83627"/>
            <a:ext cx="11720069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2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5FDAFE6-7446-AA65-D793-8D7DC122D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8112" y="1431524"/>
            <a:ext cx="807057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796046-07CD-9152-9B9B-98FBCA98D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11D2A6-F08D-ED16-4294-7D2C0E23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F2E487-2349-F4B2-23DB-12F18233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08F48A-834E-521F-4709-3CC6C6EE0D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52065" y="1431524"/>
            <a:ext cx="3594160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7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74CD91F-7EE2-8129-7C77-E3875FF8F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431524"/>
            <a:ext cx="12192000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5CE118-B95D-BB39-1191-952C8020B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B6B8A1-3163-FADB-1B96-75D562CA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0597D-2147-E0C5-32CD-4F5C650E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1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9BC0-73C6-6D5B-CC45-D7381E93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41A98B-A394-4427-E518-7D101E969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675861"/>
            <a:ext cx="12192000" cy="61802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62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5FB0D-3381-4690-9E1D-699055FE1174}"/>
              </a:ext>
            </a:extLst>
          </p:cNvPr>
          <p:cNvSpPr/>
          <p:nvPr userDrawn="1"/>
        </p:nvSpPr>
        <p:spPr>
          <a:xfrm>
            <a:off x="0" y="-6875"/>
            <a:ext cx="12192000" cy="6858000"/>
          </a:xfrm>
          <a:prstGeom prst="rect">
            <a:avLst/>
          </a:pr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28D91A5-7E19-6A17-FF7C-0343CE673D06}"/>
              </a:ext>
            </a:extLst>
          </p:cNvPr>
          <p:cNvSpPr/>
          <p:nvPr userDrawn="1"/>
        </p:nvSpPr>
        <p:spPr>
          <a:xfrm>
            <a:off x="1180506" y="-6875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DD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3A1F76-CCC7-8BEA-A864-39C233BC3BF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180506" y="5298721"/>
            <a:ext cx="4020756" cy="5145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905FC-DF31-E5BD-5EC6-F4602A2DE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06" y="3164862"/>
            <a:ext cx="7991061" cy="51452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3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819B3-0C8A-B714-05A0-C54383CBDF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/>
          </a:solidFill>
          <a:ln>
            <a:solidFill>
              <a:srgbClr val="141B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480110-B3DD-F57C-70BB-B5A1A3C9A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6009" y="3091867"/>
            <a:ext cx="10515600" cy="6742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CD5772-AF8B-16B0-A3AB-F2063CC87B4C}"/>
              </a:ext>
            </a:extLst>
          </p:cNvPr>
          <p:cNvSpPr/>
          <p:nvPr userDrawn="1"/>
        </p:nvSpPr>
        <p:spPr>
          <a:xfrm>
            <a:off x="1166009" y="-9939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81B90-8727-D4AC-A344-4C6FC116EB35}"/>
              </a:ext>
            </a:extLst>
          </p:cNvPr>
          <p:cNvSpPr txBox="1"/>
          <p:nvPr userDrawn="1"/>
        </p:nvSpPr>
        <p:spPr>
          <a:xfrm>
            <a:off x="-141402" y="-197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6E3935E6-C813-FA79-2449-203FBA214CB3}"/>
              </a:ext>
            </a:extLst>
          </p:cNvPr>
          <p:cNvSpPr/>
          <p:nvPr userDrawn="1"/>
        </p:nvSpPr>
        <p:spPr>
          <a:xfrm>
            <a:off x="1659421" y="0"/>
            <a:ext cx="10532579" cy="703992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024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DB364-DE50-1D24-0C6B-777D6565B72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9685" y="130973"/>
            <a:ext cx="1171580" cy="461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B447B9-37C4-E565-3963-AE7B51F560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73086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0"/>
            <a:ext cx="777240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32004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6400800" cy="1371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Session 2: Model Optimisation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6400800" cy="54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>
                <a:solidFill>
                  <a:srgbClr val="1B75BC"/>
                </a:solidFill>
              </a:rPr>
              <a:t>Module 5: Deep Learning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4008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SMU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Why Optimise Models?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859690"/>
            <a:ext cx="2767022" cy="3320556"/>
          </a:xfrm>
          <a:prstGeom prst="roundRect">
            <a:avLst>
              <a:gd name="adj" fmla="val 3000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692955" y="1859690"/>
            <a:ext cx="1" cy="3320556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995502" y="2136295"/>
            <a:ext cx="664111" cy="66411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68774" y="2354206"/>
            <a:ext cx="117569" cy="22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75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995502" y="2993997"/>
            <a:ext cx="2205167" cy="28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995502" y="3392204"/>
            <a:ext cx="2205167" cy="114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can be gigabytes in size. Edge devices and mobile phones have strict memory limits that demand smaller models.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10640" y="1859690"/>
            <a:ext cx="2767022" cy="3320556"/>
          </a:xfrm>
          <a:prstGeom prst="roundRect">
            <a:avLst>
              <a:gd name="adj" fmla="val 3000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36582" y="1859690"/>
            <a:ext cx="1" cy="3320556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039129" y="2136295"/>
            <a:ext cx="664111" cy="66411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19421" y="2354206"/>
            <a:ext cx="103527" cy="22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75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39129" y="2993997"/>
            <a:ext cx="2205167" cy="28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39129" y="3392204"/>
            <a:ext cx="2205167" cy="114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systems need fast inference, often in milliseconds. Optimised models reduce latency for real-time applications.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54268" y="1859690"/>
            <a:ext cx="2767022" cy="3320556"/>
          </a:xfrm>
          <a:prstGeom prst="roundRect">
            <a:avLst>
              <a:gd name="adj" fmla="val 3000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780209" y="1859690"/>
            <a:ext cx="1" cy="3320556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082755" y="2136295"/>
            <a:ext cx="664111" cy="66411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371647" y="2354206"/>
            <a:ext cx="86327" cy="22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75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8082755" y="2993997"/>
            <a:ext cx="2205167" cy="28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82755" y="3392204"/>
            <a:ext cx="2205167" cy="91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Smaller, faster models require less cloud compute. This translates directly to lower operational costs at scale.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The Accuracy vs Efficiency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928760"/>
            <a:ext cx="3597161" cy="2767022"/>
          </a:xfrm>
          <a:prstGeom prst="roundRect">
            <a:avLst>
              <a:gd name="adj" fmla="val 4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43618" y="2205365"/>
            <a:ext cx="3104830" cy="32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43618" y="2722580"/>
            <a:ext cx="3043950" cy="12944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models</a:t>
            </a:r>
            <a:endParaRPr lang="en-US" sz="1300" dirty="0"/>
          </a:p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inference</a:t>
            </a:r>
            <a:endParaRPr lang="en-US" sz="1300" dirty="0"/>
          </a:p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expensive</a:t>
            </a:r>
            <a:endParaRPr lang="en-US" sz="1300" dirty="0"/>
          </a:p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precision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40779" y="2966434"/>
            <a:ext cx="691674" cy="691674"/>
          </a:xfrm>
          <a:prstGeom prst="roundRect">
            <a:avLst>
              <a:gd name="adj" fmla="val 50008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60930" y="3201532"/>
            <a:ext cx="251210" cy="221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09059" y="1928760"/>
            <a:ext cx="3597161" cy="2767022"/>
          </a:xfrm>
          <a:prstGeom prst="roundRect">
            <a:avLst>
              <a:gd name="adj" fmla="val 4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785663" y="2205365"/>
            <a:ext cx="3104830" cy="32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85663" y="2722580"/>
            <a:ext cx="3043950" cy="12944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E0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models</a:t>
            </a:r>
            <a:endParaRPr lang="en-US" sz="1300" dirty="0"/>
          </a:p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E0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inference</a:t>
            </a:r>
            <a:endParaRPr lang="en-US" sz="1300" dirty="0"/>
          </a:p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E0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to run</a:t>
            </a:r>
            <a:endParaRPr lang="en-US" sz="1300" dirty="0"/>
          </a:p>
          <a:p>
            <a:pPr marL="127000" indent="-127000" algn="l">
              <a:lnSpc>
                <a:spcPts val="2340"/>
              </a:lnSpc>
              <a:buSzPct val="100000"/>
              <a:buChar char="•"/>
            </a:pPr>
            <a:r>
              <a:rPr lang="en-US" sz="1625" dirty="0">
                <a:solidFill>
                  <a:srgbClr val="E0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footprint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67013" y="5014218"/>
            <a:ext cx="8854761" cy="636385"/>
          </a:xfrm>
          <a:prstGeom prst="roundRect">
            <a:avLst>
              <a:gd name="adj" fmla="val 1304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1692955" y="5014218"/>
            <a:ext cx="1" cy="636385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995502" y="5216240"/>
            <a:ext cx="5069370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</a:t>
            </a: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Minimise accuracy loss while maximising efficiency gains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Technique 1: Quantisation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748950"/>
            <a:ext cx="9031857" cy="269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</a:t>
            </a: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Reducing the numerical precision of model weights and activations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9905" y="2551364"/>
            <a:ext cx="1936883" cy="1383510"/>
          </a:xfrm>
          <a:prstGeom prst="roundRect">
            <a:avLst>
              <a:gd name="adj" fmla="val 6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07237" y="3090955"/>
            <a:ext cx="742057" cy="30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949628" y="4017889"/>
            <a:ext cx="457273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bits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64783" y="3092900"/>
            <a:ext cx="338696" cy="581097"/>
          </a:xfrm>
          <a:prstGeom prst="rect">
            <a:avLst/>
          </a:prstGeom>
          <a:noFill/>
          <a:ln/>
        </p:spPr>
        <p:txBody>
          <a:bodyPr wrap="square" lIns="0" tIns="0" rIns="0" bIns="22860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921475" y="2724202"/>
            <a:ext cx="1383510" cy="1037673"/>
          </a:xfrm>
          <a:prstGeom prst="roundRect">
            <a:avLst>
              <a:gd name="adj" fmla="val 8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09514" y="3118518"/>
            <a:ext cx="607272" cy="24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84595" y="3844890"/>
            <a:ext cx="457273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bits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22982" y="3092900"/>
            <a:ext cx="338696" cy="581097"/>
          </a:xfrm>
          <a:prstGeom prst="rect">
            <a:avLst/>
          </a:prstGeom>
          <a:noFill/>
          <a:ln/>
        </p:spPr>
        <p:txBody>
          <a:bodyPr wrap="square" lIns="0" tIns="0" rIns="0" bIns="22860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79676" y="2862666"/>
            <a:ext cx="899209" cy="760906"/>
          </a:xfrm>
          <a:prstGeom prst="roundRect">
            <a:avLst>
              <a:gd name="adj" fmla="val 1091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299899" y="3139272"/>
            <a:ext cx="458761" cy="20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43726" y="3706587"/>
            <a:ext cx="370945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67013" y="4626712"/>
            <a:ext cx="8854761" cy="899209"/>
          </a:xfrm>
          <a:prstGeom prst="roundRect">
            <a:avLst>
              <a:gd name="adj" fmla="val 9232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1692955" y="4626712"/>
            <a:ext cx="1" cy="899209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995502" y="4806521"/>
            <a:ext cx="8414661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995502" y="5113608"/>
            <a:ext cx="8414661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2-4x smaller model size, faster inference on supported hardware, minimal accuracy loss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Types of Quantisation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790457"/>
            <a:ext cx="2804150" cy="3735625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667013" y="1816399"/>
            <a:ext cx="2804150" cy="1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916055" y="2091382"/>
            <a:ext cx="442632" cy="442632"/>
          </a:xfrm>
          <a:prstGeom prst="roundRect">
            <a:avLst>
              <a:gd name="adj" fmla="val 5001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82301" y="2215742"/>
            <a:ext cx="109977" cy="19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16055" y="2672318"/>
            <a:ext cx="2352189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Quantisation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916055" y="3251603"/>
            <a:ext cx="2352189" cy="974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Aft>
                <a:spcPts val="1200"/>
              </a:spcAft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are quantised ahead of time. Activations are quantised dynamically at inference time. No calibration data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16055" y="4478565"/>
            <a:ext cx="1329843" cy="446935"/>
          </a:xfrm>
          <a:prstGeom prst="roundRect">
            <a:avLst>
              <a:gd name="adj" fmla="val 47672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054358" y="4502324"/>
            <a:ext cx="1074303" cy="17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Easiest to apply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92481" y="1790457"/>
            <a:ext cx="2803989" cy="3735625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692481" y="1816399"/>
            <a:ext cx="2803989" cy="1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4941522" y="2091382"/>
            <a:ext cx="442632" cy="442632"/>
          </a:xfrm>
          <a:prstGeom prst="roundRect">
            <a:avLst>
              <a:gd name="adj" fmla="val 5001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07769" y="2215742"/>
            <a:ext cx="109977" cy="19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41522" y="2672318"/>
            <a:ext cx="2352023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Quantisation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41522" y="3251603"/>
            <a:ext cx="2352023" cy="1217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Aft>
                <a:spcPts val="1200"/>
              </a:spcAft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weights and activations are pre-quantised. Requires a representative calibration dataset to determine optimal scale factors.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41522" y="4690564"/>
            <a:ext cx="1314764" cy="417463"/>
          </a:xfrm>
          <a:prstGeom prst="roundRect">
            <a:avLst>
              <a:gd name="adj" fmla="val 4767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79826" y="4745854"/>
            <a:ext cx="1058922" cy="17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accuracy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17786" y="1790457"/>
            <a:ext cx="2803989" cy="3735625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7717786" y="1816399"/>
            <a:ext cx="2803989" cy="1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966828" y="2091382"/>
            <a:ext cx="442632" cy="442632"/>
          </a:xfrm>
          <a:prstGeom prst="roundRect">
            <a:avLst>
              <a:gd name="adj" fmla="val 5001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133075" y="2215742"/>
            <a:ext cx="109977" cy="19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966828" y="2672318"/>
            <a:ext cx="2352023" cy="50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Quantisation-Aware Training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966828" y="3282685"/>
            <a:ext cx="2352023" cy="974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Aft>
                <a:spcPts val="1200"/>
              </a:spcAft>
              <a:buNone/>
            </a:pPr>
            <a:r>
              <a:rPr lang="en-US" sz="13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 effects are simulated during training. The model learns to compensate for reduced precision, yielding best results.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66828" y="4698833"/>
            <a:ext cx="1214888" cy="409193"/>
          </a:xfrm>
          <a:prstGeom prst="roundRect">
            <a:avLst>
              <a:gd name="adj" fmla="val 47672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105131" y="4754122"/>
            <a:ext cx="957050" cy="35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13641" y="6351816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Technique 2: Pruning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748950"/>
            <a:ext cx="9031857" cy="269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</a:t>
            </a: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Removing unnecessary (near-zero) weights from the neural network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74548" y="2274759"/>
            <a:ext cx="4012230" cy="2351952"/>
          </a:xfrm>
          <a:prstGeom prst="roundRect">
            <a:avLst>
              <a:gd name="adj" fmla="val 4706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18156" y="2468350"/>
            <a:ext cx="1324852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Pruning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17668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677286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036905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396524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756143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115762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475380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34999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94618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17668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677286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036905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396524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56143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15762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475380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34999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94618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576333" y="3670106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35952" y="3670106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202278" y="4112739"/>
            <a:ext cx="1356771" cy="17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spcBef>
                <a:spcPts val="600"/>
              </a:spcBef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connections active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301848" y="2274759"/>
            <a:ext cx="4012230" cy="2351952"/>
          </a:xfrm>
          <a:prstGeom prst="roundRect">
            <a:avLst>
              <a:gd name="adj" fmla="val 4706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722025" y="2468350"/>
            <a:ext cx="1171877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Pruning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44967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104586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64205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823824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8183443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543061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8902680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9262299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9621918" y="2950868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744967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104586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7464205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823824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8183443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8543061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902680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9262299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9621918" y="3310487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8003633" y="3670106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8363252" y="3670106"/>
            <a:ext cx="249041" cy="249041"/>
          </a:xfrm>
          <a:prstGeom prst="roundRect">
            <a:avLst>
              <a:gd name="adj" fmla="val 50000"/>
            </a:avLst>
          </a:prstGeom>
          <a:solidFill>
            <a:srgbClr val="5EA8A7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343307" y="4112739"/>
            <a:ext cx="1929149" cy="17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spcBef>
                <a:spcPts val="600"/>
              </a:spcBef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weights removed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667013" y="4903478"/>
            <a:ext cx="4316722" cy="802413"/>
          </a:xfrm>
          <a:prstGeom prst="roundRect">
            <a:avLst>
              <a:gd name="adj" fmla="val 10346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1692955" y="4903478"/>
            <a:ext cx="1" cy="802413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1940214" y="5079235"/>
            <a:ext cx="3898651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Pruning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940214" y="5336545"/>
            <a:ext cx="3898651" cy="19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individual weights (fine-grained, flexible)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205053" y="4903478"/>
            <a:ext cx="4316722" cy="802413"/>
          </a:xfrm>
          <a:prstGeom prst="roundRect">
            <a:avLst>
              <a:gd name="adj" fmla="val 10346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Shape 55"/>
          <p:cNvSpPr/>
          <p:nvPr/>
        </p:nvSpPr>
        <p:spPr>
          <a:xfrm>
            <a:off x="6230994" y="4903478"/>
            <a:ext cx="1" cy="802413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6"/>
          <p:cNvSpPr/>
          <p:nvPr/>
        </p:nvSpPr>
        <p:spPr>
          <a:xfrm>
            <a:off x="6478252" y="5079235"/>
            <a:ext cx="3898651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Pruning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6478252" y="5336545"/>
            <a:ext cx="3898651" cy="19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entire neurons or filters (hardware-friendly)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Technique 3: Knowledge Distillation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748950"/>
            <a:ext cx="9031857" cy="269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</a:t>
            </a: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a smaller "student" model to mimic a larger "teacher" model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0090" y="2343829"/>
            <a:ext cx="2490417" cy="1936883"/>
          </a:xfrm>
          <a:prstGeom prst="roundRect">
            <a:avLst>
              <a:gd name="adj" fmla="val 7143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912007" y="2942275"/>
            <a:ext cx="1466583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12007" y="3471652"/>
            <a:ext cx="1605923" cy="25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accurate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092436" y="3779387"/>
            <a:ext cx="1286154" cy="19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340M parameters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38766" y="2987511"/>
            <a:ext cx="141233" cy="17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22428" y="3222447"/>
            <a:ext cx="1008282" cy="23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12275" y="3457383"/>
            <a:ext cx="811103" cy="32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28258" y="2620435"/>
            <a:ext cx="1660278" cy="1383510"/>
          </a:xfrm>
          <a:prstGeom prst="roundRect">
            <a:avLst>
              <a:gd name="adj" fmla="val 1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337398" y="2807377"/>
            <a:ext cx="1241998" cy="53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Model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51834" y="3457383"/>
            <a:ext cx="1030014" cy="17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fast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30066" y="3637030"/>
            <a:ext cx="1472499" cy="3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66M parameters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667013" y="4765176"/>
            <a:ext cx="8854761" cy="913152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1692955" y="4765176"/>
            <a:ext cx="1" cy="913152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995502" y="4979683"/>
            <a:ext cx="8414661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BERT to DistilBERT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995502" y="5250775"/>
            <a:ext cx="8414661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340M params → 66M params (5x smaller) | 97% accuracy retained | 60% faster inference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Comparing Optimisation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831964"/>
            <a:ext cx="8854761" cy="553371"/>
          </a:xfrm>
          <a:prstGeom prst="roundRect">
            <a:avLst>
              <a:gd name="adj" fmla="val 15001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47644" y="1831964"/>
            <a:ext cx="1975620" cy="55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587293" y="1831964"/>
            <a:ext cx="1693483" cy="55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Reduction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47571" y="1831964"/>
            <a:ext cx="1693483" cy="55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Gain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05083" y="1831964"/>
            <a:ext cx="1975620" cy="55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Impact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44733" y="1831964"/>
            <a:ext cx="1693483" cy="55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67013" y="3210287"/>
            <a:ext cx="8854761" cy="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647644" y="2385336"/>
            <a:ext cx="1975620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87293" y="2385336"/>
            <a:ext cx="1693483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47571" y="2385336"/>
            <a:ext cx="1693483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05083" y="2385336"/>
            <a:ext cx="1975620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91522" y="2643134"/>
            <a:ext cx="599742" cy="304168"/>
          </a:xfrm>
          <a:prstGeom prst="roundRect">
            <a:avLst>
              <a:gd name="adj" fmla="val 36390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489522" y="2684640"/>
            <a:ext cx="460781" cy="27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667013" y="3215475"/>
            <a:ext cx="8854761" cy="830139"/>
          </a:xfrm>
          <a:prstGeom prst="rect">
            <a:avLst/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1667013" y="4040426"/>
            <a:ext cx="8854761" cy="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647644" y="3215475"/>
            <a:ext cx="1975620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87293" y="3215475"/>
            <a:ext cx="1693483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2-10x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47571" y="3215475"/>
            <a:ext cx="1693483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1.5-3x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05083" y="3215475"/>
            <a:ext cx="1975620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Low-Medium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291808" y="3473273"/>
            <a:ext cx="799171" cy="304168"/>
          </a:xfrm>
          <a:prstGeom prst="roundRect">
            <a:avLst>
              <a:gd name="adj" fmla="val 3639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9387813" y="3514779"/>
            <a:ext cx="666095" cy="267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667013" y="4870565"/>
            <a:ext cx="8854761" cy="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1647644" y="4045615"/>
            <a:ext cx="1975620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587293" y="4045615"/>
            <a:ext cx="1693483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3-10x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247571" y="4045615"/>
            <a:ext cx="1693483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2-5x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05083" y="4045615"/>
            <a:ext cx="1975620" cy="83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Low-Medium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395576" y="4303412"/>
            <a:ext cx="591798" cy="304168"/>
          </a:xfrm>
          <a:prstGeom prst="roundRect">
            <a:avLst>
              <a:gd name="adj" fmla="val 36390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9493655" y="4344919"/>
            <a:ext cx="456648" cy="25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667013" y="5041781"/>
            <a:ext cx="9031857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vary by model architecture, dataset, and implementation. Techniques can be combined for greater gains.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Today's Hands-On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67013" y="1472184"/>
            <a:ext cx="830139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67013" y="1721225"/>
            <a:ext cx="9031857" cy="25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do in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67013" y="2108731"/>
            <a:ext cx="8854761" cy="553371"/>
          </a:xfrm>
          <a:prstGeom prst="roundRect">
            <a:avLst>
              <a:gd name="adj" fmla="val 15001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692955" y="2108731"/>
            <a:ext cx="1" cy="553371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940214" y="2191745"/>
            <a:ext cx="387343" cy="387343"/>
          </a:xfrm>
          <a:prstGeom prst="roundRect">
            <a:avLst>
              <a:gd name="adj" fmla="val 50007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82866" y="2295513"/>
            <a:ext cx="102038" cy="17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521149" y="2268598"/>
            <a:ext cx="5300678" cy="20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 baseline model (size, speed, accuracy)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67013" y="2772680"/>
            <a:ext cx="8854761" cy="553371"/>
          </a:xfrm>
          <a:prstGeom prst="roundRect">
            <a:avLst>
              <a:gd name="adj" fmla="val 15001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692955" y="2772680"/>
            <a:ext cx="1" cy="553371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940214" y="2855694"/>
            <a:ext cx="387343" cy="387343"/>
          </a:xfrm>
          <a:prstGeom prst="roundRect">
            <a:avLst>
              <a:gd name="adj" fmla="val 50007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82866" y="2959461"/>
            <a:ext cx="102038" cy="17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21149" y="2932547"/>
            <a:ext cx="5807305" cy="20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dynamic quantisation and measure improvements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67013" y="3436629"/>
            <a:ext cx="8854761" cy="553371"/>
          </a:xfrm>
          <a:prstGeom prst="roundRect">
            <a:avLst>
              <a:gd name="adj" fmla="val 15001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1692955" y="3436629"/>
            <a:ext cx="1" cy="553371"/>
          </a:xfrm>
          <a:prstGeom prst="line">
            <a:avLst/>
          </a:prstGeom>
          <a:noFill/>
          <a:ln w="47625">
            <a:solidFill>
              <a:srgbClr val="F48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940214" y="3519643"/>
            <a:ext cx="387343" cy="387343"/>
          </a:xfrm>
          <a:prstGeom prst="roundRect">
            <a:avLst>
              <a:gd name="adj" fmla="val 50007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82866" y="3623410"/>
            <a:ext cx="102038" cy="17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521149" y="3596496"/>
            <a:ext cx="4781694" cy="31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static quantisation with calibration data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667013" y="4100579"/>
            <a:ext cx="8854761" cy="553371"/>
          </a:xfrm>
          <a:prstGeom prst="roundRect">
            <a:avLst>
              <a:gd name="adj" fmla="val 15001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1692955" y="4100579"/>
            <a:ext cx="1" cy="553371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940214" y="4183593"/>
            <a:ext cx="387343" cy="387343"/>
          </a:xfrm>
          <a:prstGeom prst="roundRect">
            <a:avLst>
              <a:gd name="adj" fmla="val 50007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082866" y="4287360"/>
            <a:ext cx="102038" cy="17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521148" y="4260444"/>
            <a:ext cx="4954689" cy="31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pruning to remove unnecessary weights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667013" y="4764528"/>
            <a:ext cx="8854761" cy="553371"/>
          </a:xfrm>
          <a:prstGeom prst="roundRect">
            <a:avLst>
              <a:gd name="adj" fmla="val 15001"/>
            </a:avLst>
          </a:prstGeom>
          <a:solidFill>
            <a:srgbClr val="F7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1692955" y="4764528"/>
            <a:ext cx="1" cy="553371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940214" y="4847542"/>
            <a:ext cx="387343" cy="387343"/>
          </a:xfrm>
          <a:prstGeom prst="roundRect">
            <a:avLst>
              <a:gd name="adj" fmla="val 50007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082866" y="4951309"/>
            <a:ext cx="102038" cy="17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521149" y="4924393"/>
            <a:ext cx="3805510" cy="31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all techniques side-by-side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1"/>
          <p:cNvSpPr/>
          <p:nvPr/>
        </p:nvSpPr>
        <p:spPr>
          <a:xfrm>
            <a:off x="2110447" y="1472184"/>
            <a:ext cx="93651" cy="4745736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79116" y="2198600"/>
            <a:ext cx="703072" cy="35153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579116" y="2433002"/>
            <a:ext cx="7499388" cy="178047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marL="139700" indent="-139700" algn="l">
              <a:lnSpc>
                <a:spcPts val="2080"/>
              </a:lnSpc>
              <a:spcAft>
                <a:spcPts val="1200"/>
              </a:spcAft>
              <a:buSzPct val="100000"/>
              <a:buChar char="•"/>
            </a:pPr>
            <a:r>
              <a:rPr lang="en-US" sz="1625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</a:t>
            </a: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easiest win — often 2-4x improvement with minimal accuracy loss</a:t>
            </a:r>
            <a:endParaRPr lang="en-US" sz="1300" dirty="0"/>
          </a:p>
          <a:p>
            <a:pPr marL="139700" indent="-139700" algn="l">
              <a:lnSpc>
                <a:spcPts val="2080"/>
              </a:lnSpc>
              <a:spcAft>
                <a:spcPts val="1200"/>
              </a:spcAft>
              <a:buSzPct val="100000"/>
              <a:buChar char="•"/>
            </a:pPr>
            <a:r>
              <a:rPr lang="en-US" sz="1625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removes unnecessary weights — good for already-trained models</a:t>
            </a:r>
            <a:endParaRPr lang="en-US" sz="1300" dirty="0"/>
          </a:p>
          <a:p>
            <a:pPr marL="139700" indent="-139700" algn="l">
              <a:lnSpc>
                <a:spcPts val="2080"/>
              </a:lnSpc>
              <a:spcAft>
                <a:spcPts val="1200"/>
              </a:spcAft>
              <a:buSzPct val="100000"/>
              <a:buChar char="•"/>
            </a:pPr>
            <a:r>
              <a:rPr lang="en-US" sz="1625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</a:t>
            </a: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creates purpose-built smaller models — best for new deployments</a:t>
            </a:r>
            <a:endParaRPr lang="en-US" sz="1300" dirty="0"/>
          </a:p>
          <a:p>
            <a:pPr marL="139700" indent="-139700" algn="l">
              <a:lnSpc>
                <a:spcPts val="2080"/>
              </a:lnSpc>
              <a:spcAft>
                <a:spcPts val="1200"/>
              </a:spcAft>
              <a:buSzPct val="100000"/>
              <a:buChar char="•"/>
            </a:pP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techniques can be </a:t>
            </a:r>
            <a:r>
              <a:rPr lang="en-US" sz="1625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even greater gains</a:t>
            </a:r>
            <a:endParaRPr lang="en-US" sz="1300" dirty="0"/>
          </a:p>
          <a:p>
            <a:pPr marL="139700" indent="-139700" algn="l">
              <a:lnSpc>
                <a:spcPts val="2080"/>
              </a:lnSpc>
              <a:spcAft>
                <a:spcPts val="1200"/>
              </a:spcAft>
              <a:buSzPct val="100000"/>
              <a:buChar char="•"/>
            </a:pPr>
            <a:r>
              <a:rPr lang="en-US" sz="1625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</a:t>
            </a: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Session 3 — Deploying to AWS Cloud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79116" y="5350889"/>
            <a:ext cx="7499388" cy="515494"/>
          </a:xfrm>
          <a:prstGeom prst="roundRect">
            <a:avLst>
              <a:gd name="adj" fmla="val 1363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813380" y="5510179"/>
            <a:ext cx="5342079" cy="35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Session 3 — Deploying Models to AWS Cloud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48E3DCFFE0E14780E5F10C89E906F1" ma:contentTypeVersion="22" ma:contentTypeDescription="Create a new document." ma:contentTypeScope="" ma:versionID="d678dd369374279d2bd4081a9989cd29">
  <xsd:schema xmlns:xsd="http://www.w3.org/2001/XMLSchema" xmlns:xs="http://www.w3.org/2001/XMLSchema" xmlns:p="http://schemas.microsoft.com/office/2006/metadata/properties" xmlns:ns1="http://schemas.microsoft.com/sharepoint/v3" xmlns:ns2="915bf5c7-4684-4220-98ae-9a5ac35c73f2" xmlns:ns3="0fe0cff7-8ced-4c52-966c-389ff8b2e8ff" targetNamespace="http://schemas.microsoft.com/office/2006/metadata/properties" ma:root="true" ma:fieldsID="c298f6ed58f6c54907903d7bfd64939c" ns1:_="" ns2:_="" ns3:_="">
    <xsd:import namespace="http://schemas.microsoft.com/sharepoint/v3"/>
    <xsd:import namespace="915bf5c7-4684-4220-98ae-9a5ac35c73f2"/>
    <xsd:import namespace="0fe0cff7-8ced-4c52-966c-389ff8b2e8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bf5c7-4684-4220-98ae-9a5ac35c73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0cff7-8ced-4c52-966c-389ff8b2e8f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b8b229-ff41-4c1b-ac8a-01061b89586b}" ma:internalName="TaxCatchAll" ma:showField="CatchAllData" ma:web="0fe0cff7-8ced-4c52-966c-389ff8b2e8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bf5c7-4684-4220-98ae-9a5ac35c73f2">
      <Terms xmlns="http://schemas.microsoft.com/office/infopath/2007/PartnerControls"/>
    </lcf76f155ced4ddcb4097134ff3c332f>
    <_ip_UnifiedCompliancePolicyUIAction xmlns="http://schemas.microsoft.com/sharepoint/v3" xsi:nil="true"/>
    <TaxCatchAll xmlns="0fe0cff7-8ced-4c52-966c-389ff8b2e8ff" xsi:nil="true"/>
    <_ip_UnifiedCompliancePolicyProperties xmlns="http://schemas.microsoft.com/sharepoint/v3" xsi:nil="true"/>
    <_Flow_SignoffStatus xmlns="915bf5c7-4684-4220-98ae-9a5ac35c73f2" xsi:nil="true"/>
  </documentManagement>
</p:properties>
</file>

<file path=customXml/itemProps1.xml><?xml version="1.0" encoding="utf-8"?>
<ds:datastoreItem xmlns:ds="http://schemas.openxmlformats.org/officeDocument/2006/customXml" ds:itemID="{85F6D3EE-A524-43B7-9AA3-263329DCC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15bf5c7-4684-4220-98ae-9a5ac35c73f2"/>
    <ds:schemaRef ds:uri="0fe0cff7-8ced-4c52-966c-389ff8b2e8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ADC0DB-75BE-4B68-A350-C5EBCE3F55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018BC1-FE6B-4CFB-927A-42B2A8EBA393}">
  <ds:schemaRefs>
    <ds:schemaRef ds:uri="http://schemas.microsoft.com/office/2006/metadata/properties"/>
    <ds:schemaRef ds:uri="http://schemas.microsoft.com/office/infopath/2007/PartnerControls"/>
    <ds:schemaRef ds:uri="915bf5c7-4684-4220-98ae-9a5ac35c73f2"/>
    <ds:schemaRef ds:uri="http://schemas.microsoft.com/sharepoint/v3"/>
    <ds:schemaRef ds:uri="0fe0cff7-8ced-4c52-966c-389ff8b2e8ff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502</Words>
  <Application>Microsoft Macintosh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Why Optimise Models?</vt:lpstr>
      <vt:lpstr>The Accuracy vs Efficiency Trade-Off</vt:lpstr>
      <vt:lpstr>Technique 1: Quantisation</vt:lpstr>
      <vt:lpstr>Types of Quantisation</vt:lpstr>
      <vt:lpstr>Technique 2: Pruning</vt:lpstr>
      <vt:lpstr>Technique 3: Knowledge Distillation</vt:lpstr>
      <vt:lpstr>Comparing Optimisation Techniques</vt:lpstr>
      <vt:lpstr>Today's Hands-On Exercises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 TAN</dc:creator>
  <cp:lastModifiedBy>Huiliang Lui</cp:lastModifiedBy>
  <cp:revision>19</cp:revision>
  <dcterms:created xsi:type="dcterms:W3CDTF">2023-11-03T03:15:22Z</dcterms:created>
  <dcterms:modified xsi:type="dcterms:W3CDTF">2026-04-08T02:51:19Z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2023-11-03T03:34:00Z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e3cfe5ae-ba63-4311-8e61-757a6de15b4d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Office Theme:10</vt:lpwstr>
  </property>
  <property fmtid="{D5CDD505-2E9C-101B-9397-08002B2CF9AE}" pid="10" name="ClassificationContentMarkingHeaderText">
    <vt:lpwstr>SMU Classification: Restricted</vt:lpwstr>
  </property>
  <property fmtid="{D5CDD505-2E9C-101B-9397-08002B2CF9AE}" pid="11" name="ContentTypeId">
    <vt:lpwstr>0x010100D948E3DCFFE0E14780E5F10C89E906F1</vt:lpwstr>
  </property>
  <property fmtid="{D5CDD505-2E9C-101B-9397-08002B2CF9AE}" pid="12" name="MediaServiceImageTags">
    <vt:lpwstr/>
  </property>
</Properties>
</file>