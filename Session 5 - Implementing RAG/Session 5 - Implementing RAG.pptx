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7877FDDE-4C5D-2E43-A8EF-B8DC82830E2B}">
          <p14:sldIdLst>
            <p14:sldId id="256"/>
            <p14:sldId id="257"/>
            <p14:sldId id="258"/>
          </p14:sldIdLst>
        </p14:section>
        <p14:section name="Contents" id="{774AFEC7-5172-7F48-9F5A-20F3747AEC82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ivider" id="{8619DD04-1180-4044-8A5F-0135ADF94FE5}">
          <p14:sldIdLst>
            <p14:sldId id="265"/>
          </p14:sldIdLst>
        </p14:section>
        <p14:section name="End Slide" id="{F8FB931A-37E7-C047-9EDB-F888AAF78027}">
          <p14:sldIdLst>
            <p14:sldId id="266"/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43"/>
    <p:restoredTop sz="96301"/>
  </p:normalViewPr>
  <p:slideViewPr>
    <p:cSldViewPr snapToGrid="0">
      <p:cViewPr varScale="1">
        <p:scale>
          <a:sx n="103" d="100"/>
          <a:sy n="103" d="100"/>
        </p:scale>
        <p:origin x="184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uilding with a city in the background&#10;&#10;AI-generated content may be incorrect.">
            <a:extLst>
              <a:ext uri="{FF2B5EF4-FFF2-40B4-BE49-F238E27FC236}">
                <a16:creationId xmlns:a16="http://schemas.microsoft.com/office/drawing/2014/main" id="{7DFEEC88-BF75-C637-31D6-75F80EFEDC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578" y="-22578"/>
            <a:ext cx="12259494" cy="6903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C6A581-49C5-D036-146B-21423C5F840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square with white lines&#10;&#10;AI-generated content may be incorrect.">
            <a:extLst>
              <a:ext uri="{FF2B5EF4-FFF2-40B4-BE49-F238E27FC236}">
                <a16:creationId xmlns:a16="http://schemas.microsoft.com/office/drawing/2014/main" id="{C0B369DE-32CB-74B1-4BC7-70F70CDFDA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51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7663A7-228E-4D61-B93B-B08D171C653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59023" y="1"/>
            <a:ext cx="1490599" cy="184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9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9FEF1A5-91AC-ED57-2E75-04492DEA3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8295" y="1473668"/>
            <a:ext cx="5734878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5D5101C-DD34-661F-F841-CDA0FB03F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EEAD35D-B5CE-F916-1267-07CDEEFC9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296" y="857279"/>
            <a:ext cx="5734878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9728AA1B-E7A2-4FD5-1DA0-2FE2ECAF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E55409-00FF-94AF-6E41-4C9091D1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01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2661-DA8D-272B-3DC5-BDCDF5DA2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57278"/>
            <a:ext cx="1174805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C9C6C-51BF-DFA1-0946-0D5A1F8DA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3" y="1472542"/>
            <a:ext cx="11748052" cy="474935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80F0954E-653A-9E31-95D3-87AD323D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817" y="6490943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81065BD-10CB-C6D8-7F2D-E388DD44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/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4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1A892D-2994-6D50-3069-1A9A4F2D2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7930" y="1473668"/>
            <a:ext cx="5675243" cy="4837679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02E3E9C-046A-FF09-7383-7803DB446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473669"/>
            <a:ext cx="5922243" cy="483767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2821C4-C3E0-D2D8-D991-51B469D09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930" y="857279"/>
            <a:ext cx="116803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C1C4638-AA64-D0D4-929D-AB316339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292928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D401B1D-3AE6-933C-521C-56AF219C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suppor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A5B38F66-4F5A-20F4-A243-223A9C8FC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190089" y="1500017"/>
            <a:ext cx="382815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26664D8-A3DE-0753-B041-3C04A55D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508060"/>
            <a:ext cx="4114800" cy="348009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235A24-5841-35FD-6AE5-7C4974AF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15E0E3-1C45-3B1E-6394-7847BAA468D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8174" y="1500017"/>
            <a:ext cx="7756447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818C059-48A4-A7A3-39DB-89111AA1E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883627"/>
            <a:ext cx="11720069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329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5FDAFE6-7446-AA65-D793-8D7DC122D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112" y="1431524"/>
            <a:ext cx="8070575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3796046-07CD-9152-9B9B-98FBCA98DE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511D2A6-F08D-ED16-4294-7D2C0E23C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F2E487-2349-F4B2-23DB-12F18233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108F48A-834E-521F-4709-3CC6C6EE0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52065" y="1431524"/>
            <a:ext cx="3594160" cy="494426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574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374CD91F-7EE2-8129-7C77-E3875FF8F8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1431524"/>
            <a:ext cx="12192000" cy="49442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5CE118-B95D-BB39-1191-952C8020B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113" y="815134"/>
            <a:ext cx="11738112" cy="514525"/>
          </a:xfrm>
          <a:prstGeom prst="rect">
            <a:avLst/>
          </a:prstGeom>
        </p:spPr>
        <p:txBody>
          <a:bodyPr anchor="b"/>
          <a:lstStyle>
            <a:lvl1pPr algn="l">
              <a:defRPr sz="3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B6B8A1-3163-FADB-1B96-75D562CA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56" y="6490944"/>
            <a:ext cx="4114800" cy="365126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CD0597D-2147-E0C5-32CD-4F5C650E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1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9BC0-73C6-6D5B-CC45-D7381E93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0944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481002-A184-E34A-8F1C-B63B712780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341A98B-A394-4427-E518-7D101E969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675861"/>
            <a:ext cx="12192000" cy="61802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620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75FB0D-3381-4690-9E1D-699055FE1174}"/>
              </a:ext>
            </a:extLst>
          </p:cNvPr>
          <p:cNvSpPr/>
          <p:nvPr userDrawn="1"/>
        </p:nvSpPr>
        <p:spPr>
          <a:xfrm>
            <a:off x="0" y="-6875"/>
            <a:ext cx="12192000" cy="6858000"/>
          </a:xfrm>
          <a:prstGeom prst="rect">
            <a:avLst/>
          </a:pr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528D91A5-7E19-6A17-FF7C-0343CE673D06}"/>
              </a:ext>
            </a:extLst>
          </p:cNvPr>
          <p:cNvSpPr/>
          <p:nvPr userDrawn="1"/>
        </p:nvSpPr>
        <p:spPr>
          <a:xfrm>
            <a:off x="1180506" y="-6875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DDE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63A1F76-CCC7-8BEA-A864-39C233BC3BFE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1180506" y="5298721"/>
            <a:ext cx="4020756" cy="51452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40905FC-DF31-E5BD-5EC6-F4602A2DE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06" y="3164862"/>
            <a:ext cx="7991061" cy="514525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3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819B3-0C8A-B714-05A0-C54383CBDF1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D"/>
          </a:solidFill>
          <a:ln>
            <a:solidFill>
              <a:srgbClr val="141B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480110-B3DD-F57C-70BB-B5A1A3C9A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6009" y="3091867"/>
            <a:ext cx="10515600" cy="67426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ECD5772-AF8B-16B0-A3AB-F2063CC87B4C}"/>
              </a:ext>
            </a:extLst>
          </p:cNvPr>
          <p:cNvSpPr/>
          <p:nvPr userDrawn="1"/>
        </p:nvSpPr>
        <p:spPr>
          <a:xfrm>
            <a:off x="1166009" y="-9939"/>
            <a:ext cx="11045869" cy="519658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rgbClr val="C5CA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81B90-8727-D4AC-A344-4C6FC116EB35}"/>
              </a:ext>
            </a:extLst>
          </p:cNvPr>
          <p:cNvSpPr txBox="1"/>
          <p:nvPr userDrawn="1"/>
        </p:nvSpPr>
        <p:spPr>
          <a:xfrm>
            <a:off x="-141402" y="-1979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5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1">
            <a:extLst>
              <a:ext uri="{FF2B5EF4-FFF2-40B4-BE49-F238E27FC236}">
                <a16:creationId xmlns:a16="http://schemas.microsoft.com/office/drawing/2014/main" id="{6E3935E6-C813-FA79-2449-203FBA214CB3}"/>
              </a:ext>
            </a:extLst>
          </p:cNvPr>
          <p:cNvSpPr/>
          <p:nvPr userDrawn="1"/>
        </p:nvSpPr>
        <p:spPr>
          <a:xfrm>
            <a:off x="1659421" y="0"/>
            <a:ext cx="10532579" cy="703992"/>
          </a:xfrm>
          <a:custGeom>
            <a:avLst/>
            <a:gdLst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0 w 11553173"/>
              <a:gd name="connsiteY3" fmla="*/ 427237 h 427237"/>
              <a:gd name="connsiteX4" fmla="*/ 0 w 11553173"/>
              <a:gd name="connsiteY4" fmla="*/ 0 h 427237"/>
              <a:gd name="connsiteX0" fmla="*/ 0 w 11553173"/>
              <a:gd name="connsiteY0" fmla="*/ 0 h 427237"/>
              <a:gd name="connsiteX1" fmla="*/ 11553173 w 11553173"/>
              <a:gd name="connsiteY1" fmla="*/ 0 h 427237"/>
              <a:gd name="connsiteX2" fmla="*/ 11553173 w 11553173"/>
              <a:gd name="connsiteY2" fmla="*/ 427237 h 427237"/>
              <a:gd name="connsiteX3" fmla="*/ 225469 w 11553173"/>
              <a:gd name="connsiteY3" fmla="*/ 427237 h 427237"/>
              <a:gd name="connsiteX4" fmla="*/ 0 w 11553173"/>
              <a:gd name="connsiteY4" fmla="*/ 0 h 427237"/>
              <a:gd name="connsiteX0" fmla="*/ 0 w 11446701"/>
              <a:gd name="connsiteY0" fmla="*/ 0 h 439763"/>
              <a:gd name="connsiteX1" fmla="*/ 11446701 w 11446701"/>
              <a:gd name="connsiteY1" fmla="*/ 12526 h 439763"/>
              <a:gd name="connsiteX2" fmla="*/ 11446701 w 11446701"/>
              <a:gd name="connsiteY2" fmla="*/ 439763 h 439763"/>
              <a:gd name="connsiteX3" fmla="*/ 118997 w 11446701"/>
              <a:gd name="connsiteY3" fmla="*/ 439763 h 439763"/>
              <a:gd name="connsiteX4" fmla="*/ 0 w 11446701"/>
              <a:gd name="connsiteY4" fmla="*/ 0 h 439763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528121 w 11528121"/>
              <a:gd name="connsiteY2" fmla="*/ 427237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528121"/>
              <a:gd name="connsiteY0" fmla="*/ 3303 h 427237"/>
              <a:gd name="connsiteX1" fmla="*/ 11528121 w 11528121"/>
              <a:gd name="connsiteY1" fmla="*/ 0 h 427237"/>
              <a:gd name="connsiteX2" fmla="*/ 11114762 w 11528121"/>
              <a:gd name="connsiteY2" fmla="*/ 421961 h 427237"/>
              <a:gd name="connsiteX3" fmla="*/ 200417 w 11528121"/>
              <a:gd name="connsiteY3" fmla="*/ 427237 h 427237"/>
              <a:gd name="connsiteX4" fmla="*/ 0 w 11528121"/>
              <a:gd name="connsiteY4" fmla="*/ 3303 h 427237"/>
              <a:gd name="connsiteX0" fmla="*/ 0 w 11114762"/>
              <a:gd name="connsiteY0" fmla="*/ 0 h 423934"/>
              <a:gd name="connsiteX1" fmla="*/ 11064658 w 11114762"/>
              <a:gd name="connsiteY1" fmla="*/ 17802 h 423934"/>
              <a:gd name="connsiteX2" fmla="*/ 11114762 w 11114762"/>
              <a:gd name="connsiteY2" fmla="*/ 418658 h 423934"/>
              <a:gd name="connsiteX3" fmla="*/ 200417 w 11114762"/>
              <a:gd name="connsiteY3" fmla="*/ 423934 h 423934"/>
              <a:gd name="connsiteX4" fmla="*/ 0 w 11114762"/>
              <a:gd name="connsiteY4" fmla="*/ 0 h 423934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14554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0 h 429210"/>
              <a:gd name="connsiteX1" fmla="*/ 11064658 w 11064658"/>
              <a:gd name="connsiteY1" fmla="*/ 17802 h 429210"/>
              <a:gd name="connsiteX2" fmla="*/ 11052132 w 11064658"/>
              <a:gd name="connsiteY2" fmla="*/ 429210 h 429210"/>
              <a:gd name="connsiteX3" fmla="*/ 200417 w 11064658"/>
              <a:gd name="connsiteY3" fmla="*/ 423934 h 429210"/>
              <a:gd name="connsiteX4" fmla="*/ 0 w 11064658"/>
              <a:gd name="connsiteY4" fmla="*/ 0 h 429210"/>
              <a:gd name="connsiteX0" fmla="*/ 0 w 11064658"/>
              <a:gd name="connsiteY0" fmla="*/ 8580 h 437790"/>
              <a:gd name="connsiteX1" fmla="*/ 11064658 w 11064658"/>
              <a:gd name="connsiteY1" fmla="*/ 0 h 437790"/>
              <a:gd name="connsiteX2" fmla="*/ 11052132 w 11064658"/>
              <a:gd name="connsiteY2" fmla="*/ 437790 h 437790"/>
              <a:gd name="connsiteX3" fmla="*/ 200417 w 11064658"/>
              <a:gd name="connsiteY3" fmla="*/ 432514 h 437790"/>
              <a:gd name="connsiteX4" fmla="*/ 0 w 11064658"/>
              <a:gd name="connsiteY4" fmla="*/ 8580 h 437790"/>
              <a:gd name="connsiteX0" fmla="*/ 0 w 11045869"/>
              <a:gd name="connsiteY0" fmla="*/ 3303 h 437790"/>
              <a:gd name="connsiteX1" fmla="*/ 11045869 w 11045869"/>
              <a:gd name="connsiteY1" fmla="*/ 0 h 437790"/>
              <a:gd name="connsiteX2" fmla="*/ 11033343 w 11045869"/>
              <a:gd name="connsiteY2" fmla="*/ 437790 h 437790"/>
              <a:gd name="connsiteX3" fmla="*/ 181628 w 11045869"/>
              <a:gd name="connsiteY3" fmla="*/ 432514 h 437790"/>
              <a:gd name="connsiteX4" fmla="*/ 0 w 11045869"/>
              <a:gd name="connsiteY4" fmla="*/ 3303 h 437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45869" h="437790">
                <a:moveTo>
                  <a:pt x="0" y="3303"/>
                </a:moveTo>
                <a:lnTo>
                  <a:pt x="11045869" y="0"/>
                </a:lnTo>
                <a:lnTo>
                  <a:pt x="11033343" y="437790"/>
                </a:lnTo>
                <a:lnTo>
                  <a:pt x="181628" y="432514"/>
                </a:lnTo>
                <a:lnTo>
                  <a:pt x="0" y="3303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5024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DB364-DE50-1D24-0C6B-777D6565B72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39685" y="130973"/>
            <a:ext cx="1171580" cy="46107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B447B9-37C4-E565-3963-AE7B51F5608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80050" y="63500"/>
            <a:ext cx="12541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SMU Classification: Restricted</a:t>
            </a:r>
          </a:p>
        </p:txBody>
      </p:sp>
    </p:spTree>
    <p:extLst>
      <p:ext uri="{BB962C8B-B14F-4D97-AF65-F5344CB8AC3E}">
        <p14:creationId xmlns:p14="http://schemas.microsoft.com/office/powerpoint/2010/main" val="73086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71600"/>
            <a:ext cx="777240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2377440"/>
            <a:ext cx="32004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6400800" cy="13716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3600" b="1">
                <a:solidFill>
                  <a:srgbClr val="003366"/>
                </a:solidFill>
              </a:rPr>
              <a:t>Session 5: Implementing Retrieval-Augmented Generation (RAG)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15696"/>
            <a:ext cx="6400800" cy="548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800" b="0" dirty="0">
                <a:solidFill>
                  <a:srgbClr val="1B75BC"/>
                </a:solidFill>
              </a:rPr>
              <a:t>Module 5: Deep Learning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4008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</a:rPr>
              <a:t>SMU Academy  |  Advanced Certificate in Generative AI and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Why LLMs Need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82097"/>
            <a:ext cx="2816285" cy="2431615"/>
          </a:xfrm>
          <a:prstGeom prst="roundRect">
            <a:avLst>
              <a:gd name="adj" fmla="val 347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2063627"/>
            <a:ext cx="2298290" cy="60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1869717" y="2756393"/>
            <a:ext cx="2298290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69717" y="3287367"/>
            <a:ext cx="2298290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up facts confidently, presenting fiction as truth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686003" y="1782097"/>
            <a:ext cx="2816285" cy="2431615"/>
          </a:xfrm>
          <a:prstGeom prst="roundRect">
            <a:avLst>
              <a:gd name="adj" fmla="val 347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967533" y="2063627"/>
            <a:ext cx="2298290" cy="60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967533" y="2756393"/>
            <a:ext cx="2298290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Knowledge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967533" y="3287367"/>
            <a:ext cx="2298290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has a cutoff date; no recent information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83818" y="1782097"/>
            <a:ext cx="2816285" cy="2431615"/>
          </a:xfrm>
          <a:prstGeom prst="roundRect">
            <a:avLst>
              <a:gd name="adj" fmla="val 347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065347" y="2063627"/>
            <a:ext cx="2298290" cy="608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2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8065347" y="2756393"/>
            <a:ext cx="2298290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10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Private Data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65347" y="3287367"/>
            <a:ext cx="2298290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access your company's internal documents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88187" y="5145269"/>
            <a:ext cx="9012409" cy="650191"/>
          </a:xfrm>
          <a:prstGeom prst="roundRect">
            <a:avLst>
              <a:gd name="adj" fmla="val 1299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85224" y="5342307"/>
            <a:ext cx="8618338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6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limitations make LLMs unreliable for enterprise use cases without augmentation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What is RAG?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9012409" cy="816699"/>
          </a:xfrm>
          <a:prstGeom prst="roundRect">
            <a:avLst>
              <a:gd name="adj" fmla="val 10346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42791" y="1936889"/>
            <a:ext cx="8503204" cy="366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= Retrieval-Augmented Generation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88187" y="2809862"/>
            <a:ext cx="4365357" cy="1755186"/>
          </a:xfrm>
          <a:prstGeom prst="roundRect">
            <a:avLst>
              <a:gd name="adj" fmla="val 481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869717" y="3091390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Analogy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69717" y="3460217"/>
            <a:ext cx="3878344" cy="82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is like an open-book exam for AI. Instead of relying purely on memory, the model can look up information before answering.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235076" y="2809862"/>
            <a:ext cx="4365357" cy="1755186"/>
          </a:xfrm>
          <a:prstGeom prst="roundRect">
            <a:avLst>
              <a:gd name="adj" fmla="val 481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16604" y="3091390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6604" y="3460217"/>
            <a:ext cx="3878344" cy="823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retrieves relevant documents from a knowledge base, then uses that context to generate accurate, grounded answers.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88187" y="4846577"/>
            <a:ext cx="9012409" cy="746235"/>
          </a:xfrm>
          <a:prstGeom prst="roundRect">
            <a:avLst>
              <a:gd name="adj" fmla="val 1132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842791" y="5008774"/>
            <a:ext cx="8503204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can "look up" information before answering, dramatically reducing hallucinations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The RAG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518" y="1922861"/>
            <a:ext cx="1577125" cy="844918"/>
          </a:xfrm>
          <a:prstGeom prst="roundRect">
            <a:avLst>
              <a:gd name="adj" fmla="val 1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37352" y="2244656"/>
            <a:ext cx="107945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Question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77137" y="2197460"/>
            <a:ext cx="25854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47174" y="1922861"/>
            <a:ext cx="1577125" cy="844918"/>
          </a:xfrm>
          <a:prstGeom prst="roundRect">
            <a:avLst>
              <a:gd name="adj" fmla="val 1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798689" y="2247084"/>
            <a:ext cx="860977" cy="248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35792" y="2197460"/>
            <a:ext cx="25854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05829" y="1922861"/>
            <a:ext cx="1577125" cy="844918"/>
          </a:xfrm>
          <a:prstGeom prst="roundRect">
            <a:avLst>
              <a:gd name="adj" fmla="val 1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404856" y="2143992"/>
            <a:ext cx="1379075" cy="40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Documents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94448" y="2197460"/>
            <a:ext cx="25854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164486" y="1922861"/>
            <a:ext cx="1577125" cy="844918"/>
          </a:xfrm>
          <a:prstGeom prst="roundRect">
            <a:avLst>
              <a:gd name="adj" fmla="val 100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406756" y="2244656"/>
            <a:ext cx="1092419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Context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753104" y="2197460"/>
            <a:ext cx="258545" cy="295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023142" y="1922861"/>
            <a:ext cx="1577125" cy="844918"/>
          </a:xfrm>
          <a:prstGeom prst="roundRect">
            <a:avLst>
              <a:gd name="adj" fmla="val 1000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130080" y="2244656"/>
            <a:ext cx="1363084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3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588187" y="3190239"/>
            <a:ext cx="1644951" cy="1271008"/>
          </a:xfrm>
          <a:prstGeom prst="roundRect">
            <a:avLst>
              <a:gd name="adj" fmla="val 66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1785225" y="3387277"/>
            <a:ext cx="1275893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785225" y="3673097"/>
            <a:ext cx="1275893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a natural language question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30177" y="3190239"/>
            <a:ext cx="1644785" cy="1271008"/>
          </a:xfrm>
          <a:prstGeom prst="roundRect">
            <a:avLst>
              <a:gd name="adj" fmla="val 66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627214" y="3387277"/>
            <a:ext cx="127572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627214" y="3673097"/>
            <a:ext cx="1275725" cy="59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 searches knowledge base for relevant docs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272000" y="3190239"/>
            <a:ext cx="1644951" cy="1271008"/>
          </a:xfrm>
          <a:prstGeom prst="roundRect">
            <a:avLst>
              <a:gd name="adj" fmla="val 66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69037" y="3387277"/>
            <a:ext cx="1275893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69037" y="3673097"/>
            <a:ext cx="1275893" cy="59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matching documents are returned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113988" y="3190239"/>
            <a:ext cx="1644785" cy="1271008"/>
          </a:xfrm>
          <a:prstGeom prst="roundRect">
            <a:avLst>
              <a:gd name="adj" fmla="val 66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7311026" y="3387277"/>
            <a:ext cx="127572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1026" y="3673097"/>
            <a:ext cx="1275725" cy="59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receives question plus retrieved context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955812" y="3190239"/>
            <a:ext cx="1644785" cy="1271008"/>
          </a:xfrm>
          <a:prstGeom prst="roundRect">
            <a:avLst>
              <a:gd name="adj" fmla="val 664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9152850" y="3387277"/>
            <a:ext cx="1275725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9152850" y="3673097"/>
            <a:ext cx="1275725" cy="59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is grounded in actual source documents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588187" y="5164907"/>
            <a:ext cx="9012409" cy="630553"/>
          </a:xfrm>
          <a:prstGeom prst="roundRect">
            <a:avLst>
              <a:gd name="adj" fmla="val 13400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785224" y="5361945"/>
            <a:ext cx="8618338" cy="23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500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retriever bridges the gap between the user's question and the LLM's knowledge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Embeddings: Turning Text into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928582" cy="1551712"/>
          </a:xfrm>
          <a:prstGeom prst="roundRect">
            <a:avLst>
              <a:gd name="adj" fmla="val 544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36889"/>
            <a:ext cx="4452833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Embeddings?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69717" y="2277661"/>
            <a:ext cx="4452833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text into numerical vectors (lists of numbers) that capture the semantic meaning of words and sentences.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88187" y="3488602"/>
            <a:ext cx="4928582" cy="1551712"/>
          </a:xfrm>
          <a:prstGeom prst="roundRect">
            <a:avLst>
              <a:gd name="adj" fmla="val 544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69717" y="3713858"/>
            <a:ext cx="4452833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869717" y="4054631"/>
            <a:ext cx="4452833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texts produce similar vectors. "dog" and "puppy" are close in vector space, while "car" is far away. This enables semantic search.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98299" y="1711631"/>
            <a:ext cx="3802133" cy="3560869"/>
          </a:xfrm>
          <a:prstGeom prst="roundRect">
            <a:avLst>
              <a:gd name="adj" fmla="val 237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047438" y="1993161"/>
            <a:ext cx="3303855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0"/>
              </a:lnSpc>
              <a:spcAft>
                <a:spcPts val="1600"/>
              </a:spcAft>
              <a:buNone/>
            </a:pPr>
            <a:r>
              <a:rPr lang="en-US" sz="162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Space Visualisation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79829" y="2456217"/>
            <a:ext cx="3238744" cy="2534755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502288" y="3160206"/>
            <a:ext cx="703823" cy="427740"/>
          </a:xfrm>
          <a:prstGeom prst="roundRect">
            <a:avLst>
              <a:gd name="adj" fmla="val 6584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699326" y="3272750"/>
            <a:ext cx="404150" cy="215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47207" y="3582665"/>
            <a:ext cx="901026" cy="427740"/>
          </a:xfrm>
          <a:prstGeom prst="roundRect">
            <a:avLst>
              <a:gd name="adj" fmla="val 6584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8544244" y="3695210"/>
            <a:ext cx="647881" cy="22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puppy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92126" y="2878676"/>
            <a:ext cx="647880" cy="427740"/>
          </a:xfrm>
          <a:prstGeom prst="roundRect">
            <a:avLst>
              <a:gd name="adj" fmla="val 65844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9389163" y="2991222"/>
            <a:ext cx="343415" cy="197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43053" y="4146054"/>
            <a:ext cx="1005396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together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910431" y="2596981"/>
            <a:ext cx="614549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apart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Document Chunking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365357" cy="1608150"/>
          </a:xfrm>
          <a:prstGeom prst="roundRect">
            <a:avLst>
              <a:gd name="adj" fmla="val 5254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65107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Chunk?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69717" y="2305880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 too long for embedding models and LLM context windows. Split them into smaller, meaningful pieces.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88187" y="3545039"/>
            <a:ext cx="4365357" cy="1608150"/>
          </a:xfrm>
          <a:prstGeom prst="roundRect">
            <a:avLst>
              <a:gd name="adj" fmla="val 5254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69717" y="3798515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869717" y="4139288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text by character count with overlap. The overlap ensures context is not lost at chunk boundaries.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076" y="1711631"/>
            <a:ext cx="4365357" cy="3204420"/>
          </a:xfrm>
          <a:prstGeom prst="roundRect">
            <a:avLst>
              <a:gd name="adj" fmla="val 263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16604" y="1965107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Parameters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6604" y="2390372"/>
            <a:ext cx="3802298" cy="1065719"/>
          </a:xfrm>
          <a:prstGeom prst="roundRect">
            <a:avLst>
              <a:gd name="adj" fmla="val 528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741862" y="2559355"/>
            <a:ext cx="3418821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Size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741862" y="2853427"/>
            <a:ext cx="3418821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500 - 1000 characters per chunk. Balances context with precision.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16604" y="3596857"/>
            <a:ext cx="3802298" cy="1065719"/>
          </a:xfrm>
          <a:prstGeom prst="roundRect">
            <a:avLst>
              <a:gd name="adj" fmla="val 528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41862" y="3765840"/>
            <a:ext cx="3418821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741862" y="4059912"/>
            <a:ext cx="3418821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50 - 200 characters. Prevents losing context at boundaries.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Vector Databases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365357" cy="1551712"/>
          </a:xfrm>
          <a:prstGeom prst="roundRect">
            <a:avLst>
              <a:gd name="adj" fmla="val 544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36889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69717" y="2277661"/>
            <a:ext cx="3878344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optimised for storing and searching high-dimensional vectors using similarity metrics.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35076" y="1711631"/>
            <a:ext cx="4365357" cy="1551712"/>
          </a:xfrm>
          <a:prstGeom prst="roundRect">
            <a:avLst>
              <a:gd name="adj" fmla="val 544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516604" y="1936889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16604" y="2277661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embeddings alongside metadata, then find nearest neighbours using cosine similarity or L2 distance.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588187" y="3488602"/>
            <a:ext cx="9192657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200"/>
              </a:spcAft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Options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88187" y="3913866"/>
            <a:ext cx="2844503" cy="1545771"/>
          </a:xfrm>
          <a:prstGeom prst="roundRect">
            <a:avLst>
              <a:gd name="adj" fmla="val 546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813445" y="4139123"/>
            <a:ext cx="2441871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813445" y="4451677"/>
            <a:ext cx="2441871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AI Similarity Search. Highly optimised, runs locally.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813445" y="4997904"/>
            <a:ext cx="901190" cy="382238"/>
          </a:xfrm>
          <a:prstGeom prst="roundRect">
            <a:avLst>
              <a:gd name="adj" fmla="val 1786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925991" y="5040150"/>
            <a:ext cx="646699" cy="1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Free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657949" y="3913866"/>
            <a:ext cx="2844503" cy="1545771"/>
          </a:xfrm>
          <a:prstGeom prst="roundRect">
            <a:avLst>
              <a:gd name="adj" fmla="val 546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83206" y="4139123"/>
            <a:ext cx="2441871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83206" y="4451677"/>
            <a:ext cx="2619246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Developer-friendly vector store. Easy setup, great for prototyping.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83206" y="4997904"/>
            <a:ext cx="864855" cy="382238"/>
          </a:xfrm>
          <a:prstGeom prst="roundRect">
            <a:avLst>
              <a:gd name="adj" fmla="val 1786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995751" y="5040150"/>
            <a:ext cx="668412" cy="1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Local, Easy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727710" y="3913866"/>
            <a:ext cx="2844503" cy="1545771"/>
          </a:xfrm>
          <a:prstGeom prst="roundRect">
            <a:avLst>
              <a:gd name="adj" fmla="val 5466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952966" y="4139123"/>
            <a:ext cx="2441871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52966" y="4451677"/>
            <a:ext cx="2441871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managed cloud vector database. Scales automatically.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52966" y="4997904"/>
            <a:ext cx="1061217" cy="382238"/>
          </a:xfrm>
          <a:prstGeom prst="roundRect">
            <a:avLst>
              <a:gd name="adj" fmla="val 1786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8065512" y="5040150"/>
            <a:ext cx="948671" cy="15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Managed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LangChain: Building LLM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641167"/>
            <a:ext cx="9192657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framework that chains together components for building LLM-powered applications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039197" y="2134091"/>
            <a:ext cx="1126448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114114" y="2317267"/>
            <a:ext cx="976613" cy="33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65644" y="2354067"/>
            <a:ext cx="229929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390901" y="2134091"/>
            <a:ext cx="1126448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504533" y="2401594"/>
            <a:ext cx="899185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Splitters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17350" y="2354067"/>
            <a:ext cx="229929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42606" y="2134091"/>
            <a:ext cx="1126448" cy="703989"/>
          </a:xfrm>
          <a:prstGeom prst="roundRect">
            <a:avLst>
              <a:gd name="adj" fmla="val 1200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74921" y="2401594"/>
            <a:ext cx="861816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869054" y="2354067"/>
            <a:ext cx="229929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094310" y="2134091"/>
            <a:ext cx="1126448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194477" y="2401594"/>
            <a:ext cx="925948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20759" y="2354067"/>
            <a:ext cx="229929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46015" y="2134091"/>
            <a:ext cx="1126448" cy="703989"/>
          </a:xfrm>
          <a:prstGeom prst="roundRect">
            <a:avLst>
              <a:gd name="adj" fmla="val 120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657948" y="2401594"/>
            <a:ext cx="702583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72463" y="2354067"/>
            <a:ext cx="229929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797721" y="2134091"/>
            <a:ext cx="1126448" cy="703989"/>
          </a:xfrm>
          <a:prstGeom prst="roundRect">
            <a:avLst>
              <a:gd name="adj" fmla="val 12002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121421" y="2401594"/>
            <a:ext cx="478880" cy="16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924168" y="2354067"/>
            <a:ext cx="229929" cy="2640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31087" y="2838080"/>
            <a:ext cx="1126448" cy="450843"/>
          </a:xfrm>
          <a:prstGeom prst="roundRect">
            <a:avLst>
              <a:gd name="adj" fmla="val 120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712852" y="3030993"/>
            <a:ext cx="762916" cy="17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588187" y="3260704"/>
            <a:ext cx="2140350" cy="1186681"/>
          </a:xfrm>
          <a:prstGeom prst="roundRect">
            <a:avLst>
              <a:gd name="adj" fmla="val 712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1757171" y="3429688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757171" y="3687290"/>
            <a:ext cx="1838430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 from PDFs, text files, web pages, databases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869304" y="3260704"/>
            <a:ext cx="2140350" cy="1186681"/>
          </a:xfrm>
          <a:prstGeom prst="roundRect">
            <a:avLst>
              <a:gd name="adj" fmla="val 712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38287" y="3429688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Splitters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038287" y="3687290"/>
            <a:ext cx="1838430" cy="59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documents into chunks with configurable size and overlap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150419" y="3260704"/>
            <a:ext cx="2140350" cy="1186681"/>
          </a:xfrm>
          <a:prstGeom prst="roundRect">
            <a:avLst>
              <a:gd name="adj" fmla="val 712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319402" y="3429688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319402" y="3687290"/>
            <a:ext cx="1838430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text chunks into vector representations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431534" y="3260704"/>
            <a:ext cx="2140350" cy="1186681"/>
          </a:xfrm>
          <a:prstGeom prst="roundRect">
            <a:avLst>
              <a:gd name="adj" fmla="val 712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8600517" y="3429688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600517" y="3687290"/>
            <a:ext cx="1838430" cy="591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and query embeddings using FAISS, ChromaDB, etc.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588187" y="4588150"/>
            <a:ext cx="2140350" cy="989643"/>
          </a:xfrm>
          <a:prstGeom prst="roundRect">
            <a:avLst>
              <a:gd name="adj" fmla="val 853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757171" y="4757134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Retrievers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757171" y="5014735"/>
            <a:ext cx="1838430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relevant documents for a given query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869304" y="4588150"/>
            <a:ext cx="2140350" cy="989643"/>
          </a:xfrm>
          <a:prstGeom prst="roundRect">
            <a:avLst>
              <a:gd name="adj" fmla="val 853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038287" y="4757134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4038287" y="5014735"/>
            <a:ext cx="1838430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components into end-to-end workflows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6150419" y="4588150"/>
            <a:ext cx="2140350" cy="989643"/>
          </a:xfrm>
          <a:prstGeom prst="roundRect">
            <a:avLst>
              <a:gd name="adj" fmla="val 853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319402" y="4757134"/>
            <a:ext cx="1838430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spcAft>
                <a:spcPts val="400"/>
              </a:spcAft>
              <a:buNone/>
            </a:pPr>
            <a:r>
              <a:rPr lang="en-US" sz="1375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6319402" y="5014735"/>
            <a:ext cx="1838430" cy="39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25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final answers using retrieved context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LangChain Key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393576" cy="1992159"/>
          </a:xfrm>
          <a:prstGeom prst="roundRect">
            <a:avLst>
              <a:gd name="adj" fmla="val 424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93161"/>
            <a:ext cx="394239" cy="394239"/>
          </a:xfrm>
          <a:prstGeom prst="roundRect">
            <a:avLst>
              <a:gd name="adj" fmla="val 5000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019724" y="2063461"/>
            <a:ext cx="95944" cy="25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69717" y="2528167"/>
            <a:ext cx="3907127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Loaders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69717" y="2915311"/>
            <a:ext cx="3907127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data from PDF files, plain text, web pages, and many other sources into a standard format.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07022" y="1711631"/>
            <a:ext cx="4393576" cy="1992159"/>
          </a:xfrm>
          <a:prstGeom prst="roundRect">
            <a:avLst>
              <a:gd name="adj" fmla="val 424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88551" y="1993161"/>
            <a:ext cx="394239" cy="394239"/>
          </a:xfrm>
          <a:prstGeom prst="roundRect">
            <a:avLst>
              <a:gd name="adj" fmla="val 5000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638557" y="2063461"/>
            <a:ext cx="95944" cy="25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88551" y="2528167"/>
            <a:ext cx="3907127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875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Splitters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88551" y="2915311"/>
            <a:ext cx="3907127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documents into smaller pieces with configurable size and overlap for optimal retrieval.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88187" y="3929048"/>
            <a:ext cx="4393576" cy="1992159"/>
          </a:xfrm>
          <a:prstGeom prst="roundRect">
            <a:avLst>
              <a:gd name="adj" fmla="val 4241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869717" y="4210578"/>
            <a:ext cx="394239" cy="394239"/>
          </a:xfrm>
          <a:prstGeom prst="roundRect">
            <a:avLst>
              <a:gd name="adj" fmla="val 50007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019724" y="4280877"/>
            <a:ext cx="95944" cy="25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869717" y="4745582"/>
            <a:ext cx="3907127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869717" y="5132727"/>
            <a:ext cx="3907127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FAISS, ChromaDB, Pinecone and more for storing and querying embeddings.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07022" y="3929048"/>
            <a:ext cx="4393576" cy="1992159"/>
          </a:xfrm>
          <a:prstGeom prst="roundRect">
            <a:avLst>
              <a:gd name="adj" fmla="val 4241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88551" y="4210578"/>
            <a:ext cx="394239" cy="394239"/>
          </a:xfrm>
          <a:prstGeom prst="roundRect">
            <a:avLst>
              <a:gd name="adj" fmla="val 50007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638557" y="4280877"/>
            <a:ext cx="95944" cy="25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88551" y="4745582"/>
            <a:ext cx="3907127" cy="27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spcAft>
                <a:spcPts val="800"/>
              </a:spcAft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488551" y="5132727"/>
            <a:ext cx="3907127" cy="50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multiple components into end-to-end workflows like question-answering pipelines.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Building a RAG Chain in LangChain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640996" y="1472184"/>
            <a:ext cx="1113247" cy="41750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640996" y="1672457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71468" y="1762809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141844" y="1639187"/>
            <a:ext cx="8405948" cy="428435"/>
          </a:xfrm>
          <a:prstGeom prst="roundRect">
            <a:avLst>
              <a:gd name="adj" fmla="val 129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336571" y="1736552"/>
            <a:ext cx="8176821" cy="23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documents from files, URLs, or databases using Document Loaders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0996" y="2156506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771468" y="2246858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141844" y="2123236"/>
            <a:ext cx="8405948" cy="428435"/>
          </a:xfrm>
          <a:prstGeom prst="roundRect">
            <a:avLst>
              <a:gd name="adj" fmla="val 129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336571" y="2220601"/>
            <a:ext cx="8176821" cy="23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documents into chunks using RecursiveCharacterTextSplitter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40996" y="2640556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71468" y="2730907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141844" y="2607285"/>
            <a:ext cx="8405948" cy="428435"/>
          </a:xfrm>
          <a:prstGeom prst="roundRect">
            <a:avLst>
              <a:gd name="adj" fmla="val 1299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336571" y="2704650"/>
            <a:ext cx="8176821" cy="23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embeddings using OpenAI, Bedrock, or HuggingFace models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640996" y="3124605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71468" y="3214956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141844" y="3091334"/>
            <a:ext cx="8405948" cy="428435"/>
          </a:xfrm>
          <a:prstGeom prst="roundRect">
            <a:avLst>
              <a:gd name="adj" fmla="val 12993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336571" y="3188698"/>
            <a:ext cx="8176821" cy="23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embeddings in a vector database (FAISS or ChromaDB)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640996" y="3608654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771468" y="3699006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141844" y="3575384"/>
            <a:ext cx="8405948" cy="428435"/>
          </a:xfrm>
          <a:prstGeom prst="roundRect">
            <a:avLst>
              <a:gd name="adj" fmla="val 129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336571" y="3672748"/>
            <a:ext cx="8176821" cy="23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retriever from the vector store with similarity search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640996" y="4092703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771468" y="4183054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2141844" y="4059433"/>
            <a:ext cx="8405948" cy="428435"/>
          </a:xfrm>
          <a:prstGeom prst="roundRect">
            <a:avLst>
              <a:gd name="adj" fmla="val 12993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336571" y="4156797"/>
            <a:ext cx="8176821" cy="233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500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QA chain combining the retriever with an LLM and prompt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640996" y="4586537"/>
            <a:ext cx="361732" cy="361732"/>
          </a:xfrm>
          <a:prstGeom prst="roundRect">
            <a:avLst>
              <a:gd name="adj" fmla="val 50015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1771468" y="4676889"/>
            <a:ext cx="102638" cy="180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2141844" y="4543482"/>
            <a:ext cx="8405948" cy="447843"/>
          </a:xfrm>
          <a:prstGeom prst="roundRect">
            <a:avLst>
              <a:gd name="adj" fmla="val 1243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2336571" y="4640846"/>
            <a:ext cx="8176821" cy="253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questions and get grounded answers!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821862" y="2223699"/>
            <a:ext cx="27725" cy="111227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1821862" y="2724709"/>
            <a:ext cx="27725" cy="111227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1821862" y="3225720"/>
            <a:ext cx="27725" cy="111227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1821862" y="3726730"/>
            <a:ext cx="27725" cy="111227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5"/>
          <p:cNvSpPr/>
          <p:nvPr/>
        </p:nvSpPr>
        <p:spPr>
          <a:xfrm>
            <a:off x="1821862" y="4227740"/>
            <a:ext cx="27725" cy="111227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1821862" y="4728751"/>
            <a:ext cx="27725" cy="111227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084372" y="6162306"/>
            <a:ext cx="10020206" cy="55613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AWS Bedrock for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365357" cy="1551712"/>
          </a:xfrm>
          <a:prstGeom prst="roundRect">
            <a:avLst>
              <a:gd name="adj" fmla="val 544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36889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Bedrock?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69717" y="2277661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managed service providing access to foundation models from multiple providers through a single API.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88187" y="3488602"/>
            <a:ext cx="4365357" cy="1551712"/>
          </a:xfrm>
          <a:prstGeom prst="roundRect">
            <a:avLst>
              <a:gd name="adj" fmla="val 544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69717" y="3713858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Integration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869717" y="4054631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langchain-aws package to seamlessly connect Bedrock models with LangChain's RAG components.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076" y="1711631"/>
            <a:ext cx="4365357" cy="2351909"/>
          </a:xfrm>
          <a:prstGeom prst="roundRect">
            <a:avLst>
              <a:gd name="adj" fmla="val 3592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16604" y="1936889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Models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6604" y="2333934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85588" y="2446480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(Anthropic) - Advanced reasoning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16604" y="2872900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5588" y="2985446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 (Amazon) - General purpose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16604" y="3411866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685588" y="3524411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(Meta) - Open source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35076" y="4288798"/>
            <a:ext cx="4365357" cy="1178265"/>
          </a:xfrm>
          <a:prstGeom prst="roundRect">
            <a:avLst>
              <a:gd name="adj" fmla="val 7171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516604" y="4514056"/>
            <a:ext cx="3878344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Embeddings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16604" y="4808126"/>
            <a:ext cx="3878344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Titan Embeddings for creating high-quality vector representations.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LlamaIndex: A Brief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365357" cy="1551712"/>
          </a:xfrm>
          <a:prstGeom prst="roundRect">
            <a:avLst>
              <a:gd name="adj" fmla="val 5445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36889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LlamaIndex?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69717" y="2277661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popular framework for building data-augmented LLM applications, with a focus on data indexing and retrieval.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588187" y="3488602"/>
            <a:ext cx="4365357" cy="1551712"/>
          </a:xfrm>
          <a:prstGeom prst="roundRect">
            <a:avLst>
              <a:gd name="adj" fmla="val 544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869717" y="3713858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Focus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869717" y="4054631"/>
            <a:ext cx="3878344" cy="760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Specialises in connecting custom data sources to LLMs with sophisticated indexing strategies and query optimisation.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35076" y="1711631"/>
            <a:ext cx="4365357" cy="2806714"/>
          </a:xfrm>
          <a:prstGeom prst="roundRect">
            <a:avLst>
              <a:gd name="adj" fmla="val 3010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516604" y="1936889"/>
            <a:ext cx="387834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75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6604" y="2333934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685588" y="2446480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- Raw data containers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16604" y="2844846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685588" y="2957392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Nodes - Chunked data units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16604" y="3355758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685588" y="3468304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 - Data structures for search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16604" y="3866670"/>
            <a:ext cx="3802298" cy="426420"/>
          </a:xfrm>
          <a:prstGeom prst="roundRect">
            <a:avLst>
              <a:gd name="adj" fmla="val 13209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685588" y="3979216"/>
            <a:ext cx="3533618" cy="201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Engines - End-to-end Q&amp;A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35076" y="4743603"/>
            <a:ext cx="4365357" cy="1178265"/>
          </a:xfrm>
          <a:prstGeom prst="roundRect">
            <a:avLst>
              <a:gd name="adj" fmla="val 7171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516604" y="4968859"/>
            <a:ext cx="3878344" cy="237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6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16604" y="5262931"/>
            <a:ext cx="3878344" cy="43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structured data and complex queries requiring advanced indexing.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 dirty="0">
                <a:solidFill>
                  <a:srgbClr val="003366"/>
                </a:solidFill>
              </a:rPr>
              <a:t>RAG vs Fine-Tuning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11631"/>
            <a:ext cx="4365357" cy="4087953"/>
          </a:xfrm>
          <a:prstGeom prst="roundRect">
            <a:avLst>
              <a:gd name="adj" fmla="val 2067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69717" y="1993161"/>
            <a:ext cx="3878344" cy="32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69717" y="2519585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2066755" y="2660350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needed - plug in your data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869717" y="3130501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066755" y="3271266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data - update knowledge base anytime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869717" y="3741416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066755" y="3882182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update - add or remove documents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1869717" y="4352333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66755" y="4493097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effective - no GPU training required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869717" y="5019686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66755" y="5160451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Data changes frequently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35076" y="1711631"/>
            <a:ext cx="4365357" cy="4087953"/>
          </a:xfrm>
          <a:prstGeom prst="roundRect">
            <a:avLst>
              <a:gd name="adj" fmla="val 2067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516604" y="1993161"/>
            <a:ext cx="3878344" cy="329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40"/>
              </a:lnSpc>
              <a:spcAft>
                <a:spcPts val="140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516604" y="2519585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713642" y="2660350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training on curated datasets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6516604" y="3130501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713642" y="3271266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knowledge - baked into model weights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6516604" y="3741416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713642" y="3882182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- needs GPU compute for training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6516604" y="4352333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713642" y="4493097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customisation of model behaviour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5"/>
          <p:cNvSpPr/>
          <p:nvPr/>
        </p:nvSpPr>
        <p:spPr>
          <a:xfrm>
            <a:off x="6516604" y="5019686"/>
            <a:ext cx="3802298" cy="498370"/>
          </a:xfrm>
          <a:prstGeom prst="roundRect">
            <a:avLst>
              <a:gd name="adj" fmla="val 11302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6713642" y="5160451"/>
            <a:ext cx="3476387" cy="21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3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You need behaviour change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Today's Hands-On Exercises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782097"/>
            <a:ext cx="1126448" cy="675769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823676" y="2007353"/>
            <a:ext cx="764076" cy="22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14636" y="1782097"/>
            <a:ext cx="7885962" cy="67576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996165" y="1991841"/>
            <a:ext cx="3491131" cy="32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and Vector Stores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3734" y="2010158"/>
            <a:ext cx="546041" cy="21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88187" y="2654904"/>
            <a:ext cx="1126448" cy="675769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819550" y="2880161"/>
            <a:ext cx="768202" cy="22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14636" y="2654904"/>
            <a:ext cx="7885962" cy="67576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996166" y="2864649"/>
            <a:ext cx="3099834" cy="2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Fundamentals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783734" y="2882966"/>
            <a:ext cx="546041" cy="21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588187" y="3527712"/>
            <a:ext cx="1126448" cy="675769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819550" y="3752968"/>
            <a:ext cx="768202" cy="22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14636" y="3527712"/>
            <a:ext cx="7885962" cy="67576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996165" y="3737456"/>
            <a:ext cx="3713553" cy="237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Complete RAG System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783734" y="3755773"/>
            <a:ext cx="546041" cy="21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588187" y="4400520"/>
            <a:ext cx="1126448" cy="675769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819550" y="4625775"/>
            <a:ext cx="895085" cy="25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714636" y="4400520"/>
            <a:ext cx="7885962" cy="675769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996166" y="4610263"/>
            <a:ext cx="2774439" cy="237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75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 Quick Start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783734" y="4628581"/>
            <a:ext cx="546041" cy="219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1B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88187" y="5145269"/>
            <a:ext cx="9012409" cy="650191"/>
          </a:xfrm>
          <a:prstGeom prst="roundRect">
            <a:avLst>
              <a:gd name="adj" fmla="val 12995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785224" y="5342307"/>
            <a:ext cx="8618338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625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hands-on time: 4 hours  |  Lecture + Discussion: 2 hours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003366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" y="1353312"/>
            <a:ext cx="2286000" cy="38100"/>
          </a:xfrm>
          <a:prstGeom prst="rect">
            <a:avLst/>
          </a:prstGeom>
          <a:solidFill>
            <a:srgbClr val="F48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2"/>
          <p:cNvSpPr/>
          <p:nvPr/>
        </p:nvSpPr>
        <p:spPr>
          <a:xfrm>
            <a:off x="1588187" y="1472184"/>
            <a:ext cx="1126448" cy="42245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588187" y="1811470"/>
            <a:ext cx="394239" cy="394239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09975" y="1909990"/>
            <a:ext cx="153679" cy="1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79466" y="1711631"/>
            <a:ext cx="8421131" cy="594083"/>
          </a:xfrm>
          <a:prstGeom prst="roundRect">
            <a:avLst>
              <a:gd name="adj" fmla="val 94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2404723" y="1880615"/>
            <a:ext cx="8130030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lets LLMs answer questions using your own documents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588187" y="2546319"/>
            <a:ext cx="394239" cy="394239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709975" y="2644837"/>
            <a:ext cx="153679" cy="1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79466" y="2446480"/>
            <a:ext cx="8421131" cy="594083"/>
          </a:xfrm>
          <a:prstGeom prst="roundRect">
            <a:avLst>
              <a:gd name="adj" fmla="val 94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04723" y="2615464"/>
            <a:ext cx="8130030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capture semantic meaning of text as numerical vectors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588187" y="3281168"/>
            <a:ext cx="394239" cy="394239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709975" y="3379686"/>
            <a:ext cx="153679" cy="1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179466" y="3181329"/>
            <a:ext cx="8421131" cy="594083"/>
          </a:xfrm>
          <a:prstGeom prst="roundRect">
            <a:avLst>
              <a:gd name="adj" fmla="val 94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404723" y="3350312"/>
            <a:ext cx="8130030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 enable fast similarity search across large document collections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588187" y="4016015"/>
            <a:ext cx="394239" cy="394239"/>
          </a:xfrm>
          <a:prstGeom prst="roundRect">
            <a:avLst>
              <a:gd name="adj" fmla="val 14288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09975" y="4114535"/>
            <a:ext cx="153679" cy="19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2179466" y="3916176"/>
            <a:ext cx="8421131" cy="594083"/>
          </a:xfrm>
          <a:prstGeom prst="roundRect">
            <a:avLst>
              <a:gd name="adj" fmla="val 9481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404723" y="4085160"/>
            <a:ext cx="8130030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 is the go-to framework for building RAG systems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588187" y="4776278"/>
            <a:ext cx="9012409" cy="1019182"/>
          </a:xfrm>
          <a:prstGeom prst="roundRect">
            <a:avLst>
              <a:gd name="adj" fmla="val 8290"/>
            </a:avLst>
          </a:prstGeom>
          <a:solidFill>
            <a:srgbClr val="1B75B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1926155" y="5001534"/>
            <a:ext cx="8503204" cy="25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750" b="1" dirty="0">
                <a:solidFill>
                  <a:srgbClr val="F4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926155" y="5314087"/>
            <a:ext cx="8503204" cy="256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6: Assessment - Putting it all together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24964" y="6161647"/>
            <a:ext cx="10139023" cy="56272"/>
          </a:xfrm>
          <a:prstGeom prst="rect">
            <a:avLst/>
          </a:prstGeom>
          <a:solidFill>
            <a:srgbClr val="F482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bf5c7-4684-4220-98ae-9a5ac35c73f2">
      <Terms xmlns="http://schemas.microsoft.com/office/infopath/2007/PartnerControls"/>
    </lcf76f155ced4ddcb4097134ff3c332f>
    <_ip_UnifiedCompliancePolicyUIAction xmlns="http://schemas.microsoft.com/sharepoint/v3" xsi:nil="true"/>
    <TaxCatchAll xmlns="0fe0cff7-8ced-4c52-966c-389ff8b2e8ff" xsi:nil="true"/>
    <_ip_UnifiedCompliancePolicyProperties xmlns="http://schemas.microsoft.com/sharepoint/v3" xsi:nil="true"/>
    <_Flow_SignoffStatus xmlns="915bf5c7-4684-4220-98ae-9a5ac35c73f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48E3DCFFE0E14780E5F10C89E906F1" ma:contentTypeVersion="22" ma:contentTypeDescription="Create a new document." ma:contentTypeScope="" ma:versionID="d678dd369374279d2bd4081a9989cd29">
  <xsd:schema xmlns:xsd="http://www.w3.org/2001/XMLSchema" xmlns:xs="http://www.w3.org/2001/XMLSchema" xmlns:p="http://schemas.microsoft.com/office/2006/metadata/properties" xmlns:ns1="http://schemas.microsoft.com/sharepoint/v3" xmlns:ns2="915bf5c7-4684-4220-98ae-9a5ac35c73f2" xmlns:ns3="0fe0cff7-8ced-4c52-966c-389ff8b2e8ff" targetNamespace="http://schemas.microsoft.com/office/2006/metadata/properties" ma:root="true" ma:fieldsID="c298f6ed58f6c54907903d7bfd64939c" ns1:_="" ns2:_="" ns3:_="">
    <xsd:import namespace="http://schemas.microsoft.com/sharepoint/v3"/>
    <xsd:import namespace="915bf5c7-4684-4220-98ae-9a5ac35c73f2"/>
    <xsd:import namespace="0fe0cff7-8ced-4c52-966c-389ff8b2e8f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bf5c7-4684-4220-98ae-9a5ac35c73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Flow_SignoffStatus" ma:index="21" nillable="true" ma:displayName="Sign-off status" ma:internalName="Sign_x002d_off_x0020_status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deec61d7-21c4-46ea-8069-5c692c33a4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0cff7-8ced-4c52-966c-389ff8b2e8ff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f2b8b229-ff41-4c1b-ac8a-01061b89586b}" ma:internalName="TaxCatchAll" ma:showField="CatchAllData" ma:web="0fe0cff7-8ced-4c52-966c-389ff8b2e8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018BC1-FE6B-4CFB-927A-42B2A8EBA393}">
  <ds:schemaRefs>
    <ds:schemaRef ds:uri="http://schemas.microsoft.com/office/2006/metadata/properties"/>
    <ds:schemaRef ds:uri="http://schemas.microsoft.com/office/infopath/2007/PartnerControls"/>
    <ds:schemaRef ds:uri="915bf5c7-4684-4220-98ae-9a5ac35c73f2"/>
    <ds:schemaRef ds:uri="http://schemas.microsoft.com/sharepoint/v3"/>
    <ds:schemaRef ds:uri="0fe0cff7-8ced-4c52-966c-389ff8b2e8ff"/>
  </ds:schemaRefs>
</ds:datastoreItem>
</file>

<file path=customXml/itemProps2.xml><?xml version="1.0" encoding="utf-8"?>
<ds:datastoreItem xmlns:ds="http://schemas.openxmlformats.org/officeDocument/2006/customXml" ds:itemID="{C6ADC0DB-75BE-4B68-A350-C5EBCE3F55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F6D3EE-A524-43B7-9AA3-263329DCC5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15bf5c7-4684-4220-98ae-9a5ac35c73f2"/>
    <ds:schemaRef ds:uri="0fe0cff7-8ced-4c52-966c-389ff8b2e8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951d41b-6b8e-4636-984f-012bff14ba18}" enabled="1" method="Standard" siteId="{c98a79ca-5a9a-4791-a243-f06afd67464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1028</Words>
  <Application>Microsoft Macintosh PowerPoint</Application>
  <PresentationFormat>Widescreen</PresentationFormat>
  <Paragraphs>196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Why LLMs Need Help</vt:lpstr>
      <vt:lpstr>What is RAG?</vt:lpstr>
      <vt:lpstr>The RAG Pipeline</vt:lpstr>
      <vt:lpstr>Embeddings: Turning Text into Numbers</vt:lpstr>
      <vt:lpstr>Document Chunking</vt:lpstr>
      <vt:lpstr>Vector Databases</vt:lpstr>
      <vt:lpstr>LangChain: Building LLM Applications</vt:lpstr>
      <vt:lpstr>LangChain Key Components</vt:lpstr>
      <vt:lpstr>Building a RAG Chain in LangChain</vt:lpstr>
      <vt:lpstr>AWS Bedrock for RAG</vt:lpstr>
      <vt:lpstr>LlamaIndex: A Brief Introduction</vt:lpstr>
      <vt:lpstr>RAG vs Fine-Tuning</vt:lpstr>
      <vt:lpstr>Today's Hands-On Exercises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 TAN</dc:creator>
  <cp:lastModifiedBy>Huiliang Lui</cp:lastModifiedBy>
  <cp:revision>15</cp:revision>
  <dcterms:created xsi:type="dcterms:W3CDTF">2023-11-03T03:15:22Z</dcterms:created>
  <dcterms:modified xsi:type="dcterms:W3CDTF">2026-04-08T03:11:27Z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951d41b-6b8e-4636-984f-012bff14ba18_Enabled">
    <vt:lpwstr>true</vt:lpwstr>
  </property>
  <property fmtid="{D5CDD505-2E9C-101B-9397-08002B2CF9AE}" pid="3" name="MSIP_Label_6951d41b-6b8e-4636-984f-012bff14ba18_SetDate">
    <vt:lpwstr>2023-11-03T03:34:00Z</vt:lpwstr>
  </property>
  <property fmtid="{D5CDD505-2E9C-101B-9397-08002B2CF9AE}" pid="4" name="MSIP_Label_6951d41b-6b8e-4636-984f-012bff14ba18_Method">
    <vt:lpwstr>Standard</vt:lpwstr>
  </property>
  <property fmtid="{D5CDD505-2E9C-101B-9397-08002B2CF9AE}" pid="5" name="MSIP_Label_6951d41b-6b8e-4636-984f-012bff14ba18_Name">
    <vt:lpwstr>6951d41b-6b8e-4636-984f-012bff14ba18</vt:lpwstr>
  </property>
  <property fmtid="{D5CDD505-2E9C-101B-9397-08002B2CF9AE}" pid="6" name="MSIP_Label_6951d41b-6b8e-4636-984f-012bff14ba18_SiteId">
    <vt:lpwstr>c98a79ca-5a9a-4791-a243-f06afd67464d</vt:lpwstr>
  </property>
  <property fmtid="{D5CDD505-2E9C-101B-9397-08002B2CF9AE}" pid="7" name="MSIP_Label_6951d41b-6b8e-4636-984f-012bff14ba18_ActionId">
    <vt:lpwstr>e3cfe5ae-ba63-4311-8e61-757a6de15b4d</vt:lpwstr>
  </property>
  <property fmtid="{D5CDD505-2E9C-101B-9397-08002B2CF9AE}" pid="8" name="MSIP_Label_6951d41b-6b8e-4636-984f-012bff14ba18_ContentBits">
    <vt:lpwstr>1</vt:lpwstr>
  </property>
  <property fmtid="{D5CDD505-2E9C-101B-9397-08002B2CF9AE}" pid="9" name="ClassificationContentMarkingHeaderLocations">
    <vt:lpwstr>Office Theme:10</vt:lpwstr>
  </property>
  <property fmtid="{D5CDD505-2E9C-101B-9397-08002B2CF9AE}" pid="10" name="ClassificationContentMarkingHeaderText">
    <vt:lpwstr>SMU Classification: Restricted</vt:lpwstr>
  </property>
  <property fmtid="{D5CDD505-2E9C-101B-9397-08002B2CF9AE}" pid="11" name="ContentTypeId">
    <vt:lpwstr>0x010100D948E3DCFFE0E14780E5F10C89E906F1</vt:lpwstr>
  </property>
  <property fmtid="{D5CDD505-2E9C-101B-9397-08002B2CF9AE}" pid="12" name="MediaServiceImageTags">
    <vt:lpwstr/>
  </property>
</Properties>
</file>